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37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BFE88-9392-A67D-5525-DF79F6618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39670E-108D-D88C-1862-8F4197661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6FACE-426C-C394-6538-1C3B4FBBD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99A6F-D38A-4354-A052-8BB897814D4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3D729-DB78-C8B6-C507-BB89C6411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9D1DB-E177-DCE5-C24B-7D518ADF7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B54FD-5153-4E10-A400-EBC6B2F17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886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464FB-AB0A-551E-32B0-355CD8400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26A72-9D84-1FEA-458E-F16B38D48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8C545-E83A-788E-6B36-3A76E8292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99A6F-D38A-4354-A052-8BB897814D4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BFDD2-611E-44DC-CD01-AE34D162F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CCB3A-60FE-72F4-8D17-CC4A36C72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B54FD-5153-4E10-A400-EBC6B2F17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574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CAD45-081E-9ADA-3E05-3DF413701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70E2F9-435A-22C3-8E35-4C03210F6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C2BE0-DA35-2462-E0D4-8754C2105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99A6F-D38A-4354-A052-8BB897814D4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5E621-1496-F66E-21A4-194B4F2A7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DA613-90C7-C121-0A11-989D21B5B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B54FD-5153-4E10-A400-EBC6B2F17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84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C82DC-58A1-B2CE-C6B9-86743ADCD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9B891-E973-7BD7-F28A-C56029BE16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8700CE-EFFB-2BF2-745D-2A3726C5A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3BC077-0C48-893A-B0F9-7C3E03C00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99A6F-D38A-4354-A052-8BB897814D4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837187-245B-81F1-311B-47CDB09C2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472918-0D5A-8377-E8FF-6602D49BC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B54FD-5153-4E10-A400-EBC6B2F17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594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CFCAD-EC49-135C-C7CC-9E28A7045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E2E6D-3D0E-7F62-751C-E508627E92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167FA2-EBE9-5259-63A7-3E237D5C2D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C72246-9D10-656F-BC29-54B957DA8E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2D8F18-09E5-33E1-7AB1-44688A5A3C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42C5A9-C402-767B-4D8E-7AE2E7871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99A6F-D38A-4354-A052-8BB897814D4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AC864D-210F-BE90-CC7B-B9BB8D888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60FF91-A76C-AD5A-7E27-423086404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B54FD-5153-4E10-A400-EBC6B2F17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6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31120-6894-D489-9CA9-329E176E2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699A85-001E-7412-A834-8BF2E7B59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99A6F-D38A-4354-A052-8BB897814D4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8F1019-764F-8038-B7B3-DF7CB45EF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C5C65E-E0D4-189A-1CB5-3183F6738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B54FD-5153-4E10-A400-EBC6B2F17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596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E89C68-C123-DB73-9D14-37876A9BA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99A6F-D38A-4354-A052-8BB897814D4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CBA8F9-31E2-066D-5A80-85B688A44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0E8B7A-06B1-E535-D2E2-8679B4749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B54FD-5153-4E10-A400-EBC6B2F17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41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37A25-99B6-F3AF-A63B-0361FEF74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C21A3-A5AD-EACF-5BC3-8592C37B7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A9B9A4-D4D1-FA22-1CCD-2FCA33776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786675-E5F2-BD6E-345C-133D72A02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99A6F-D38A-4354-A052-8BB897814D4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8DD2BA-5BBC-7749-8769-64BE93B3D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A5DAB-3CD6-8652-4C85-417A5798B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B54FD-5153-4E10-A400-EBC6B2F17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242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BE6E5-BCF2-581E-3035-02D59F18E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D6EE2D-E191-1315-4201-5E4EDC950D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51CEE-B20A-5380-DD94-210CE20D13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C099E8-A2FB-229E-494C-E128F5B55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99A6F-D38A-4354-A052-8BB897814D4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4A3233-9091-FA3E-F667-AFEFF54D8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DD51C-6C6D-A775-69F9-DCAA09F26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B54FD-5153-4E10-A400-EBC6B2F17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227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2F81D-4B57-9481-3C6D-FD4008891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670B2E-AD99-CF81-CB56-6E99DDB2F2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4543C-D07C-ABBD-F19F-B1914EC42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99A6F-D38A-4354-A052-8BB897814D4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6A5BA-3464-1423-E632-32C65305A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8762A-79FC-B4E5-CFBF-0E7F0E0BE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B54FD-5153-4E10-A400-EBC6B2F17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196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EC5F4A-7B77-52B2-1396-01F87F9451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9CF4B8-456A-B4C0-15FD-361BC640FB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64978-5A5A-CEA7-EEF6-E4B4ED8D3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99A6F-D38A-4354-A052-8BB897814D4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0E130-1CC5-466C-7044-39A6EF63D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2E88C-8F26-38C0-DC95-4CA235F3E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B54FD-5153-4E10-A400-EBC6B2F17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826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051F7B-D59B-E2DE-2FB0-3A8B96961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45B02C-FC63-9031-591A-018582913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FA119-1691-93BB-5A1A-525C0D7668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B99A6F-D38A-4354-A052-8BB897814D4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4A10C-6C69-D913-5EA9-4DF952A95D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29B7D-67B8-7D08-6BD3-4D97CBA8C7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B54FD-5153-4E10-A400-EBC6B2F17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424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34DEB9-D0D8-47AA-AB88-B003CD56B836}"/>
              </a:ext>
            </a:extLst>
          </p:cNvPr>
          <p:cNvSpPr txBox="1"/>
          <p:nvPr/>
        </p:nvSpPr>
        <p:spPr>
          <a:xfrm>
            <a:off x="457200" y="1280160"/>
            <a:ext cx="7772400" cy="1371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4400" b="1">
                <a:solidFill>
                  <a:srgbClr val="FFFFFF"/>
                </a:solidFill>
                <a:latin typeface="Cambria" panose="02040503050406030204" pitchFamily="18" charset="0"/>
              </a:rPr>
              <a:t>A way back for quiet responders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63A4C9-0487-8EE7-5AEF-4269144DDC40}"/>
              </a:ext>
            </a:extLst>
          </p:cNvPr>
          <p:cNvSpPr txBox="1"/>
          <p:nvPr/>
        </p:nvSpPr>
        <p:spPr>
          <a:xfrm>
            <a:off x="457200" y="2834640"/>
            <a:ext cx="7772400" cy="3657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FCA311"/>
                </a:solidFill>
                <a:latin typeface="Calibri" panose="020F0502020204030204" pitchFamily="34" charset="0"/>
              </a:rPr>
              <a:t>Product brief  ·  Rook Dispatch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026242-0FFE-3904-8890-EEBBFE43D4FA}"/>
              </a:ext>
            </a:extLst>
          </p:cNvPr>
          <p:cNvSpPr txBox="1"/>
          <p:nvPr/>
        </p:nvSpPr>
        <p:spPr>
          <a:xfrm>
            <a:off x="457200" y="3291840"/>
            <a:ext cx="6858000" cy="6400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D9DEE8"/>
                </a:solidFill>
                <a:latin typeface="Calibri" panose="020F0502020204030204" pitchFamily="34" charset="0"/>
              </a:rPr>
              <a:t>Draft for Helen Achebe, for discussion before any code changes. Not yet reviewed by engineering.</a:t>
            </a:r>
          </a:p>
        </p:txBody>
      </p:sp>
    </p:spTree>
    <p:extLst>
      <p:ext uri="{BB962C8B-B14F-4D97-AF65-F5344CB8AC3E}">
        <p14:creationId xmlns:p14="http://schemas.microsoft.com/office/powerpoint/2010/main" val="2602565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768130-5651-B180-8CB6-0751CC56D871}"/>
              </a:ext>
            </a:extLst>
          </p:cNvPr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8A94A8"/>
                </a:solidFill>
                <a:latin typeface="Calibri" panose="020F0502020204030204" pitchFamily="34" charset="0"/>
              </a:rPr>
              <a:t>Rook Dispatch  ·  Quiet responders brief  ·  Draft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19F8B0-74FE-07CF-BE86-4F8E95E50597}"/>
              </a:ext>
            </a:extLst>
          </p:cNvPr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>
                <a:solidFill>
                  <a:srgbClr val="8A94A8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3DA988-0400-E302-3CAB-8760F3F4C765}"/>
              </a:ext>
            </a:extLst>
          </p:cNvPr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400" b="1">
                <a:solidFill>
                  <a:srgbClr val="14213D"/>
                </a:solidFill>
                <a:latin typeface="Cambria" panose="02040503050406030204" pitchFamily="18" charset="0"/>
              </a:rPr>
              <a:t>Why now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B15349-4A08-5521-5A1D-071364A56CD9}"/>
              </a:ext>
            </a:extLst>
          </p:cNvPr>
          <p:cNvSpPr/>
          <p:nvPr/>
        </p:nvSpPr>
        <p:spPr>
          <a:xfrm>
            <a:off x="457200" y="1280160"/>
            <a:ext cx="2560320" cy="2011680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5F0337-2599-B420-06C8-CA2A673DF46D}"/>
              </a:ext>
            </a:extLst>
          </p:cNvPr>
          <p:cNvSpPr txBox="1"/>
          <p:nvPr/>
        </p:nvSpPr>
        <p:spPr>
          <a:xfrm>
            <a:off x="594360" y="1371600"/>
            <a:ext cx="2286000" cy="7315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600" b="1">
                <a:solidFill>
                  <a:srgbClr val="1F7A6F"/>
                </a:solidFill>
                <a:latin typeface="Cambria" panose="02040503050406030204" pitchFamily="18" charset="0"/>
              </a:rPr>
              <a:t>4 of 16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93BE51-8EFA-F77E-15F1-F358272B97EC}"/>
              </a:ext>
            </a:extLst>
          </p:cNvPr>
          <p:cNvSpPr txBox="1"/>
          <p:nvPr/>
        </p:nvSpPr>
        <p:spPr>
          <a:xfrm>
            <a:off x="594360" y="2103120"/>
            <a:ext cx="2286000" cy="10972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responders nearly stopped getting pings after 4.2 (Farlight, Meteor Mite, The Undertow, Vesper)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542C7F-F4E9-489E-3390-C888EC95E0E3}"/>
              </a:ext>
            </a:extLst>
          </p:cNvPr>
          <p:cNvSpPr/>
          <p:nvPr/>
        </p:nvSpPr>
        <p:spPr>
          <a:xfrm>
            <a:off x="3291840" y="1280160"/>
            <a:ext cx="2560320" cy="2011680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F12B56-089D-DE2D-5048-2FA8703D2A72}"/>
              </a:ext>
            </a:extLst>
          </p:cNvPr>
          <p:cNvSpPr txBox="1"/>
          <p:nvPr/>
        </p:nvSpPr>
        <p:spPr>
          <a:xfrm>
            <a:off x="3429000" y="1371600"/>
            <a:ext cx="2286000" cy="7315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600" b="1">
                <a:solidFill>
                  <a:srgbClr val="1F7A6F"/>
                </a:solidFill>
                <a:latin typeface="Cambria" panose="02040503050406030204" pitchFamily="18" charset="0"/>
              </a:rPr>
              <a:t>70–86 →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C739FE-CEF9-0529-8117-0791FD8A5230}"/>
              </a:ext>
            </a:extLst>
          </p:cNvPr>
          <p:cNvSpPr txBox="1"/>
          <p:nvPr/>
        </p:nvSpPr>
        <p:spPr>
          <a:xfrm>
            <a:off x="3429000" y="2103120"/>
            <a:ext cx="2286000" cy="10972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pings before 4.2, down to about one a week by late August. No recovery.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9FDA70-9E36-2FB2-C7DB-1FC8687A8560}"/>
              </a:ext>
            </a:extLst>
          </p:cNvPr>
          <p:cNvSpPr/>
          <p:nvPr/>
        </p:nvSpPr>
        <p:spPr>
          <a:xfrm>
            <a:off x="6126480" y="1280160"/>
            <a:ext cx="2560320" cy="2011680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50B671-6F1C-3CE9-24D7-A59B2C2319CC}"/>
              </a:ext>
            </a:extLst>
          </p:cNvPr>
          <p:cNvSpPr txBox="1"/>
          <p:nvPr/>
        </p:nvSpPr>
        <p:spPr>
          <a:xfrm>
            <a:off x="6263640" y="1371600"/>
            <a:ext cx="2286000" cy="7315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600" b="1">
                <a:solidFill>
                  <a:srgbClr val="1F7A6F"/>
                </a:solidFill>
                <a:latin typeface="Cambria" panose="02040503050406030204" pitchFamily="18" charset="0"/>
              </a:rPr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07222D-478E-C42F-9896-88BF365D3508}"/>
              </a:ext>
            </a:extLst>
          </p:cNvPr>
          <p:cNvSpPr txBox="1"/>
          <p:nvPr/>
        </p:nvSpPr>
        <p:spPr>
          <a:xfrm>
            <a:off x="6263640" y="2103120"/>
            <a:ext cx="2286000" cy="10972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pings taken by the four from 24 Aug: 9 pings, 7 missed, 2 turned down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4EB043-2D87-2840-C8F9-D5CCB8FFF479}"/>
              </a:ext>
            </a:extLst>
          </p:cNvPr>
          <p:cNvSpPr txBox="1"/>
          <p:nvPr/>
        </p:nvSpPr>
        <p:spPr>
          <a:xfrm>
            <a:off x="457200" y="3520440"/>
            <a:ext cx="8229600" cy="914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>
                <a:solidFill>
                  <a:srgbClr val="14213D"/>
                </a:solidFill>
                <a:latin typeface="Calibri" panose="020F0502020204030204" pitchFamily="34" charset="0"/>
              </a:rPr>
              <a:t>Why they can't climb back</a:t>
            </a:r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 (as the code reads; production unconfirmed): a score only changes when a ping is answered, nothing fades with time, and a miss costs 0.12 while a take earns 0.08.</a:t>
            </a:r>
          </a:p>
        </p:txBody>
      </p:sp>
    </p:spTree>
    <p:extLst>
      <p:ext uri="{BB962C8B-B14F-4D97-AF65-F5344CB8AC3E}">
        <p14:creationId xmlns:p14="http://schemas.microsoft.com/office/powerpoint/2010/main" val="1784127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E864D7-10E5-91CC-CD53-0E459C882E33}"/>
              </a:ext>
            </a:extLst>
          </p:cNvPr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8A94A8"/>
                </a:solidFill>
                <a:latin typeface="Calibri" panose="020F0502020204030204" pitchFamily="34" charset="0"/>
              </a:rPr>
              <a:t>Rook Dispatch  ·  Quiet responders brief  ·  Draft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300804-D6F4-638A-76DB-9F2DD980326C}"/>
              </a:ext>
            </a:extLst>
          </p:cNvPr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>
                <a:solidFill>
                  <a:srgbClr val="8A94A8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245D29-140F-819C-CECF-6FA1492AB032}"/>
              </a:ext>
            </a:extLst>
          </p:cNvPr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400" b="1">
                <a:solidFill>
                  <a:srgbClr val="14213D"/>
                </a:solidFill>
                <a:latin typeface="Cambria" panose="02040503050406030204" pitchFamily="18" charset="0"/>
              </a:rPr>
              <a:t>Who it's for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70D9F6-1A35-3688-AB63-0118F81F7399}"/>
              </a:ext>
            </a:extLst>
          </p:cNvPr>
          <p:cNvSpPr/>
          <p:nvPr/>
        </p:nvSpPr>
        <p:spPr>
          <a:xfrm>
            <a:off x="457200" y="1280160"/>
            <a:ext cx="2560320" cy="3154680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16E4CE-57CD-5EDF-866C-DAE09B6BC9C3}"/>
              </a:ext>
            </a:extLst>
          </p:cNvPr>
          <p:cNvSpPr txBox="1"/>
          <p:nvPr/>
        </p:nvSpPr>
        <p:spPr>
          <a:xfrm>
            <a:off x="594360" y="1371600"/>
            <a:ext cx="2286000" cy="2743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C8452D"/>
                </a:solidFill>
                <a:latin typeface="Calibri" panose="020F0502020204030204" pitchFamily="34" charset="0"/>
              </a:rPr>
              <a:t>PRIMARY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BB8C3F-30AD-DB54-C0CC-1215B690A525}"/>
              </a:ext>
            </a:extLst>
          </p:cNvPr>
          <p:cNvSpPr txBox="1"/>
          <p:nvPr/>
        </p:nvSpPr>
        <p:spPr>
          <a:xfrm>
            <a:off x="594360" y="1645920"/>
            <a:ext cx="2286000" cy="6400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14213D"/>
                </a:solidFill>
                <a:latin typeface="Cambria" panose="02040503050406030204" pitchFamily="18" charset="0"/>
              </a:rPr>
              <a:t>Quiet responders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CB5635-D73A-30A0-B9F6-48C26CC55C46}"/>
              </a:ext>
            </a:extLst>
          </p:cNvPr>
          <p:cNvSpPr txBox="1"/>
          <p:nvPr/>
        </p:nvSpPr>
        <p:spPr>
          <a:xfrm>
            <a:off x="594360" y="2377440"/>
            <a:ext cx="2286000" cy="20116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Answered most pings, missed a run, now sit at the bottom of the order. Their phone doesn't go off and they don't know why. Today: Vesper, Farlight, Meteor Mite, The Undertow.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EAFB55-AF2C-FDFB-15CA-6E97220E0C3B}"/>
              </a:ext>
            </a:extLst>
          </p:cNvPr>
          <p:cNvSpPr/>
          <p:nvPr/>
        </p:nvSpPr>
        <p:spPr>
          <a:xfrm>
            <a:off x="3291840" y="1280160"/>
            <a:ext cx="2560320" cy="3154680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A0A0A5-DC99-0926-6793-15F9E2C8A668}"/>
              </a:ext>
            </a:extLst>
          </p:cNvPr>
          <p:cNvSpPr txBox="1"/>
          <p:nvPr/>
        </p:nvSpPr>
        <p:spPr>
          <a:xfrm>
            <a:off x="3429000" y="1371600"/>
            <a:ext cx="2286000" cy="2743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C8452D"/>
                </a:solidFill>
                <a:latin typeface="Calibri" panose="020F0502020204030204" pitchFamily="34" charset="0"/>
              </a:rPr>
              <a:t>SECONDARY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96CBC8-B700-D72D-EFE8-DCDF00E1ECBE}"/>
              </a:ext>
            </a:extLst>
          </p:cNvPr>
          <p:cNvSpPr txBox="1"/>
          <p:nvPr/>
        </p:nvSpPr>
        <p:spPr>
          <a:xfrm>
            <a:off x="3429000" y="1645920"/>
            <a:ext cx="2286000" cy="6400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14213D"/>
                </a:solidFill>
                <a:latin typeface="Cambria" panose="02040503050406030204" pitchFamily="18" charset="0"/>
              </a:rPr>
              <a:t>Their handlers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0A4EFB-6BDF-B0F1-DCBE-CEFB1CF488B8}"/>
              </a:ext>
            </a:extLst>
          </p:cNvPr>
          <p:cNvSpPr txBox="1"/>
          <p:nvPr/>
        </p:nvSpPr>
        <p:spPr>
          <a:xfrm>
            <a:off x="3429000" y="2377440"/>
            <a:ext cx="2286000" cy="20116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Kip and Aunt Dot get the texts and the tickets, but can't tell "it's slow" from "Dispatch stopped choosing them".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513BE9-2B21-A7A8-971F-B4E677BBF332}"/>
              </a:ext>
            </a:extLst>
          </p:cNvPr>
          <p:cNvSpPr/>
          <p:nvPr/>
        </p:nvSpPr>
        <p:spPr>
          <a:xfrm>
            <a:off x="6126480" y="1280160"/>
            <a:ext cx="2560320" cy="3154680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7843F4-5C50-0560-A1A1-AC3376B1D6E6}"/>
              </a:ext>
            </a:extLst>
          </p:cNvPr>
          <p:cNvSpPr txBox="1"/>
          <p:nvPr/>
        </p:nvSpPr>
        <p:spPr>
          <a:xfrm>
            <a:off x="6263640" y="1371600"/>
            <a:ext cx="2286000" cy="2743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C8452D"/>
                </a:solidFill>
                <a:latin typeface="Calibri" panose="020F0502020204030204" pitchFamily="34" charset="0"/>
              </a:rPr>
              <a:t>ALSO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C16AFD-79CB-7A2C-CAB6-4CCF2A07D37F}"/>
              </a:ext>
            </a:extLst>
          </p:cNvPr>
          <p:cNvSpPr txBox="1"/>
          <p:nvPr/>
        </p:nvSpPr>
        <p:spPr>
          <a:xfrm>
            <a:off x="6263640" y="1645920"/>
            <a:ext cx="2286000" cy="6400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14213D"/>
                </a:solidFill>
                <a:latin typeface="Cambria" panose="02040503050406030204" pitchFamily="18" charset="0"/>
              </a:rPr>
              <a:t>Responders who absorbed the work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5E1A8E-1D7A-CF6E-6570-3F1AF5C99D99}"/>
              </a:ext>
            </a:extLst>
          </p:cNvPr>
          <p:cNvSpPr txBox="1"/>
          <p:nvPr/>
        </p:nvSpPr>
        <p:spPr>
          <a:xfrm>
            <a:off x="6263640" y="2377440"/>
            <a:ext cx="2286000" cy="20116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The other twelve got about 20% more pings. The Gale is "exhausted". Spreading load back helps them without anyone asking.</a:t>
            </a:r>
          </a:p>
        </p:txBody>
      </p:sp>
    </p:spTree>
    <p:extLst>
      <p:ext uri="{BB962C8B-B14F-4D97-AF65-F5344CB8AC3E}">
        <p14:creationId xmlns:p14="http://schemas.microsoft.com/office/powerpoint/2010/main" val="2517179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89E6C0-91CD-2401-6E5A-728227BA6132}"/>
              </a:ext>
            </a:extLst>
          </p:cNvPr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8A94A8"/>
                </a:solidFill>
                <a:latin typeface="Calibri" panose="020F0502020204030204" pitchFamily="34" charset="0"/>
              </a:rPr>
              <a:t>Rook Dispatch  ·  Quiet responders brief  ·  Draft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B0827B-5B23-A6C2-BF76-FBA5B660372C}"/>
              </a:ext>
            </a:extLst>
          </p:cNvPr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>
                <a:solidFill>
                  <a:srgbClr val="8A94A8"/>
                </a:solidFill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D27496-AE8F-3AC9-2336-CC73A23F7FDA}"/>
              </a:ext>
            </a:extLst>
          </p:cNvPr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400" b="1">
                <a:solidFill>
                  <a:srgbClr val="14213D"/>
                </a:solidFill>
                <a:latin typeface="Cambria" panose="02040503050406030204" pitchFamily="18" charset="0"/>
              </a:rPr>
              <a:t>What changes for them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94DB05-E684-C5FA-6B6B-D8EF0322785F}"/>
              </a:ext>
            </a:extLst>
          </p:cNvPr>
          <p:cNvSpPr/>
          <p:nvPr/>
        </p:nvSpPr>
        <p:spPr>
          <a:xfrm>
            <a:off x="457200" y="1280160"/>
            <a:ext cx="3977640" cy="3200400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980315-D1CA-C888-D901-851F763A0E14}"/>
              </a:ext>
            </a:extLst>
          </p:cNvPr>
          <p:cNvSpPr txBox="1"/>
          <p:nvPr/>
        </p:nvSpPr>
        <p:spPr>
          <a:xfrm>
            <a:off x="640080" y="1371600"/>
            <a:ext cx="3611880" cy="4114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>
                <a:solidFill>
                  <a:srgbClr val="1F7A6F"/>
                </a:solidFill>
                <a:latin typeface="Cambria" panose="02040503050406030204" pitchFamily="18" charset="0"/>
              </a:rPr>
              <a:t>A quiet responder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F722A2-EED0-61FB-403B-4A1FBABF1656}"/>
              </a:ext>
            </a:extLst>
          </p:cNvPr>
          <p:cNvSpPr txBox="1"/>
          <p:nvPr/>
        </p:nvSpPr>
        <p:spPr>
          <a:xfrm>
            <a:off x="640080" y="1874520"/>
            <a:ext cx="3611880" cy="2514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Pinged again after a set period, without having to take a ping first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A run of misses no longer parks them at the bottom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A miss on the way back doesn't push them deeper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No available, qualified responder goes more than N days without a ping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82DDD2-5673-362C-39EB-5690527AF68E}"/>
              </a:ext>
            </a:extLst>
          </p:cNvPr>
          <p:cNvSpPr/>
          <p:nvPr/>
        </p:nvSpPr>
        <p:spPr>
          <a:xfrm>
            <a:off x="4709160" y="1280160"/>
            <a:ext cx="3977640" cy="3200400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146369-9861-8B70-4591-2B455607065C}"/>
              </a:ext>
            </a:extLst>
          </p:cNvPr>
          <p:cNvSpPr txBox="1"/>
          <p:nvPr/>
        </p:nvSpPr>
        <p:spPr>
          <a:xfrm>
            <a:off x="4892040" y="1371600"/>
            <a:ext cx="3611880" cy="4114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>
                <a:solidFill>
                  <a:srgbClr val="1F7A6F"/>
                </a:solidFill>
                <a:latin typeface="Cambria" panose="02040503050406030204" pitchFamily="18" charset="0"/>
              </a:rPr>
              <a:t>A handler like Kip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298DF8-A575-292D-79D5-8D0E123371A1}"/>
              </a:ext>
            </a:extLst>
          </p:cNvPr>
          <p:cNvSpPr txBox="1"/>
          <p:nvPr/>
        </p:nvSpPr>
        <p:spPr>
          <a:xfrm>
            <a:off x="4892040" y="1874520"/>
            <a:ext cx="3611880" cy="2514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Each card says in plain words how the responder is doing, e.g. "Pinged 12 times this week" (wording untested)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Kip can tell Meteor Mite something true, not "hang in there"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If a returner keeps missing, the handler and Support are told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Nothing to configure, no new step in the callout flow</a:t>
            </a:r>
          </a:p>
        </p:txBody>
      </p:sp>
    </p:spTree>
    <p:extLst>
      <p:ext uri="{BB962C8B-B14F-4D97-AF65-F5344CB8AC3E}">
        <p14:creationId xmlns:p14="http://schemas.microsoft.com/office/powerpoint/2010/main" val="1535276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6319FD-A7A4-3DA2-0EE5-9EEB92A34A95}"/>
              </a:ext>
            </a:extLst>
          </p:cNvPr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8A94A8"/>
                </a:solidFill>
                <a:latin typeface="Calibri" panose="020F0502020204030204" pitchFamily="34" charset="0"/>
              </a:rPr>
              <a:t>Rook Dispatch  ·  Quiet responders brief  ·  Draft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739C46-55E5-B8D2-C635-B68881F089EA}"/>
              </a:ext>
            </a:extLst>
          </p:cNvPr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>
                <a:solidFill>
                  <a:srgbClr val="8A94A8"/>
                </a:solidFill>
                <a:latin typeface="Calibri" panose="020F0502020204030204" pitchFamily="34" charset="0"/>
              </a:rPr>
              <a:t>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5330A5-1976-C77B-CAC3-0FC0935B3045}"/>
              </a:ext>
            </a:extLst>
          </p:cNvPr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400" b="1">
                <a:solidFill>
                  <a:srgbClr val="14213D"/>
                </a:solidFill>
                <a:latin typeface="Cambria" panose="02040503050406030204" pitchFamily="18" charset="0"/>
              </a:rPr>
              <a:t>What it deliberately doesn't do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2A81DB-E82D-3162-89DF-8885B4FB2445}"/>
              </a:ext>
            </a:extLst>
          </p:cNvPr>
          <p:cNvSpPr/>
          <p:nvPr/>
        </p:nvSpPr>
        <p:spPr>
          <a:xfrm>
            <a:off x="457200" y="1234440"/>
            <a:ext cx="3977640" cy="658368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71A29D-68E9-EE59-6BA1-443A863790F5}"/>
              </a:ext>
            </a:extLst>
          </p:cNvPr>
          <p:cNvSpPr txBox="1"/>
          <p:nvPr/>
        </p:nvSpPr>
        <p:spPr>
          <a:xfrm>
            <a:off x="594360" y="1234440"/>
            <a:ext cx="3703320" cy="65836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>
                <a:solidFill>
                  <a:srgbClr val="14213D"/>
                </a:solidFill>
                <a:latin typeface="Calibri" panose="020F0502020204030204" pitchFamily="34" charset="0"/>
              </a:rPr>
              <a:t>Not a setting.</a:t>
            </a:r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 No handler-adjustable weight or timer.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B5BC1B-FDAF-A24B-A1BA-52C23F7DAF8F}"/>
              </a:ext>
            </a:extLst>
          </p:cNvPr>
          <p:cNvSpPr/>
          <p:nvPr/>
        </p:nvSpPr>
        <p:spPr>
          <a:xfrm>
            <a:off x="4709160" y="1234440"/>
            <a:ext cx="3977640" cy="658368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D43BFF-5D7E-998C-9D08-BA05D569F6DA}"/>
              </a:ext>
            </a:extLst>
          </p:cNvPr>
          <p:cNvSpPr txBox="1"/>
          <p:nvPr/>
        </p:nvSpPr>
        <p:spPr>
          <a:xfrm>
            <a:off x="4846320" y="1234440"/>
            <a:ext cx="3703320" cy="65836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>
                <a:solidFill>
                  <a:srgbClr val="14213D"/>
                </a:solidFill>
                <a:latin typeface="Calibri" panose="020F0502020204030204" pitchFamily="34" charset="0"/>
              </a:rPr>
              <a:t>Not a revert of 4.2.</a:t>
            </a:r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 Proximity weighting and the 60 s wait stay.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DF3E43-016C-4C70-A06D-6864DA9AF8A0}"/>
              </a:ext>
            </a:extLst>
          </p:cNvPr>
          <p:cNvSpPr/>
          <p:nvPr/>
        </p:nvSpPr>
        <p:spPr>
          <a:xfrm>
            <a:off x="457200" y="2002536"/>
            <a:ext cx="3977640" cy="658368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6081A2-3712-35A6-1FF2-43D59349724D}"/>
              </a:ext>
            </a:extLst>
          </p:cNvPr>
          <p:cNvSpPr txBox="1"/>
          <p:nvPr/>
        </p:nvSpPr>
        <p:spPr>
          <a:xfrm>
            <a:off x="594360" y="2002536"/>
            <a:ext cx="3703320" cy="65836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>
                <a:solidFill>
                  <a:srgbClr val="14213D"/>
                </a:solidFill>
                <a:latin typeface="Calibri" panose="020F0502020204030204" pitchFamily="34" charset="0"/>
              </a:rPr>
              <a:t>Not the "gone too fast" fix.</a:t>
            </a:r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 That's the shorter wait, a separate problem.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24AA1-248A-B04C-1457-EC4B1AA3BD15}"/>
              </a:ext>
            </a:extLst>
          </p:cNvPr>
          <p:cNvSpPr/>
          <p:nvPr/>
        </p:nvSpPr>
        <p:spPr>
          <a:xfrm>
            <a:off x="4709160" y="2002536"/>
            <a:ext cx="3977640" cy="658368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5AD8BA-8B04-2AB5-1469-0EEEEF4734D1}"/>
              </a:ext>
            </a:extLst>
          </p:cNvPr>
          <p:cNvSpPr txBox="1"/>
          <p:nvPr/>
        </p:nvSpPr>
        <p:spPr>
          <a:xfrm>
            <a:off x="4846320" y="2002536"/>
            <a:ext cx="3703320" cy="65836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>
                <a:solidFill>
                  <a:srgbClr val="14213D"/>
                </a:solidFill>
                <a:latin typeface="Calibri" panose="020F0502020204030204" pitchFamily="34" charset="0"/>
              </a:rPr>
              <a:t>Turn-downs aren't cheaper.</a:t>
            </a:r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 Declining a job costs what it does today.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939021-E396-9F9B-3D91-252E2894B6F9}"/>
              </a:ext>
            </a:extLst>
          </p:cNvPr>
          <p:cNvSpPr/>
          <p:nvPr/>
        </p:nvSpPr>
        <p:spPr>
          <a:xfrm>
            <a:off x="457200" y="2770632"/>
            <a:ext cx="3977640" cy="658368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318A92-1762-21A5-B034-FFD20C155496}"/>
              </a:ext>
            </a:extLst>
          </p:cNvPr>
          <p:cNvSpPr txBox="1"/>
          <p:nvPr/>
        </p:nvSpPr>
        <p:spPr>
          <a:xfrm>
            <a:off x="594360" y="2770632"/>
            <a:ext cx="3703320" cy="65836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>
                <a:solidFill>
                  <a:srgbClr val="14213D"/>
                </a:solidFill>
                <a:latin typeface="Calibri" panose="020F0502020204030204" pitchFamily="34" charset="0"/>
              </a:rPr>
              <a:t>No guaranteed share.</a:t>
            </a:r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 No quotas; repeat missers can still rank low.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DF9590-5696-2086-642F-BE307212324B}"/>
              </a:ext>
            </a:extLst>
          </p:cNvPr>
          <p:cNvSpPr/>
          <p:nvPr/>
        </p:nvSpPr>
        <p:spPr>
          <a:xfrm>
            <a:off x="4709160" y="2770632"/>
            <a:ext cx="3977640" cy="658368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FA61E5-6A26-10B0-EB32-C0D0DAB70B16}"/>
              </a:ext>
            </a:extLst>
          </p:cNvPr>
          <p:cNvSpPr txBox="1"/>
          <p:nvPr/>
        </p:nvSpPr>
        <p:spPr>
          <a:xfrm>
            <a:off x="4846320" y="2770632"/>
            <a:ext cx="3703320" cy="65836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>
                <a:solidFill>
                  <a:srgbClr val="14213D"/>
                </a:solidFill>
                <a:latin typeface="Calibri" panose="020F0502020204030204" pitchFamily="34" charset="0"/>
              </a:rPr>
              <a:t>No scores shown to others.</a:t>
            </a:r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 Handlers see their own responders only.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DCDA4D-EB2A-C94D-B084-7B6CDF53811B}"/>
              </a:ext>
            </a:extLst>
          </p:cNvPr>
          <p:cNvSpPr/>
          <p:nvPr/>
        </p:nvSpPr>
        <p:spPr>
          <a:xfrm>
            <a:off x="457200" y="3538728"/>
            <a:ext cx="3977640" cy="658368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AFF182-55A2-2C88-B915-D5D057932122}"/>
              </a:ext>
            </a:extLst>
          </p:cNvPr>
          <p:cNvSpPr txBox="1"/>
          <p:nvPr/>
        </p:nvSpPr>
        <p:spPr>
          <a:xfrm>
            <a:off x="594360" y="3538728"/>
            <a:ext cx="3703320" cy="65836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>
                <a:solidFill>
                  <a:srgbClr val="14213D"/>
                </a:solidFill>
                <a:latin typeface="Calibri" panose="020F0502020204030204" pitchFamily="34" charset="0"/>
              </a:rPr>
              <a:t>No legal identity.</a:t>
            </a:r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 Cover identity and callout history only.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EB6308C-0A07-2257-4D57-21D00A97B8A7}"/>
              </a:ext>
            </a:extLst>
          </p:cNvPr>
          <p:cNvSpPr/>
          <p:nvPr/>
        </p:nvSpPr>
        <p:spPr>
          <a:xfrm>
            <a:off x="4709160" y="3538728"/>
            <a:ext cx="3977640" cy="658368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4A75A5-D56C-56CE-A66D-5283379E9F8D}"/>
              </a:ext>
            </a:extLst>
          </p:cNvPr>
          <p:cNvSpPr txBox="1"/>
          <p:nvPr/>
        </p:nvSpPr>
        <p:spPr>
          <a:xfrm>
            <a:off x="4846320" y="3538728"/>
            <a:ext cx="3703320" cy="65836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>
                <a:solidFill>
                  <a:srgbClr val="14213D"/>
                </a:solidFill>
                <a:latin typeface="Calibri" panose="020F0502020204030204" pitchFamily="34" charset="0"/>
              </a:rPr>
              <a:t>No Supply changes.</a:t>
            </a:r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 Availability Record unchanged; Supply hears first.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134E6B-B36B-1506-BD5B-02821796EF6C}"/>
              </a:ext>
            </a:extLst>
          </p:cNvPr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4A5670"/>
                </a:solidFill>
                <a:latin typeface="Calibri" panose="020F0502020204030204" pitchFamily="34" charset="0"/>
              </a:rPr>
              <a:t>Also separate: handler phone app, dark mode, per-responder alert sounds.</a:t>
            </a:r>
          </a:p>
        </p:txBody>
      </p:sp>
    </p:spTree>
    <p:extLst>
      <p:ext uri="{BB962C8B-B14F-4D97-AF65-F5344CB8AC3E}">
        <p14:creationId xmlns:p14="http://schemas.microsoft.com/office/powerpoint/2010/main" val="537734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83213F-ADAE-D7AA-67D7-6F9DB838EF3D}"/>
              </a:ext>
            </a:extLst>
          </p:cNvPr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8A94A8"/>
                </a:solidFill>
                <a:latin typeface="Calibri" panose="020F0502020204030204" pitchFamily="34" charset="0"/>
              </a:rPr>
              <a:t>Rook Dispatch  ·  Quiet responders brief  ·  Draft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DF24DF-58DD-84B0-629A-ACFB1D4C96A6}"/>
              </a:ext>
            </a:extLst>
          </p:cNvPr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>
                <a:solidFill>
                  <a:srgbClr val="8A94A8"/>
                </a:solidFill>
                <a:latin typeface="Calibri" panose="020F0502020204030204" pitchFamily="34" charset="0"/>
              </a:rPr>
              <a:t>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F5D579-DA29-5F7F-BEC2-10CF75AF6797}"/>
              </a:ext>
            </a:extLst>
          </p:cNvPr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400" b="1">
                <a:solidFill>
                  <a:srgbClr val="14213D"/>
                </a:solidFill>
                <a:latin typeface="Cambria" panose="02040503050406030204" pitchFamily="18" charset="0"/>
              </a:rPr>
              <a:t>How we'll know it worked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5A26AC6-7635-05D0-8555-F20F64EFA4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520033"/>
              </p:ext>
            </p:extLst>
          </p:nvPr>
        </p:nvGraphicFramePr>
        <p:xfrm>
          <a:off x="457200" y="1234440"/>
          <a:ext cx="8229600" cy="314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55723332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1881835305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Measure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Goal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559832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4213D"/>
                          </a:solidFill>
                          <a:latin typeface="Calibri" panose="020F0502020204030204" pitchFamily="34" charset="0"/>
                        </a:rPr>
                        <a:t>Rotation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14213D"/>
                          </a:solidFill>
                          <a:latin typeface="Calibri" panose="020F0502020204030204" pitchFamily="34" charset="0"/>
                        </a:rPr>
                        <a:t>The four back near pre-4.2 pings a week (Vesper about 14)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44363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4213D"/>
                          </a:solidFill>
                          <a:latin typeface="Calibri" panose="020F0502020204030204" pitchFamily="34" charset="0"/>
                        </a:rPr>
                        <a:t>Vesper test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14213D"/>
                          </a:solidFill>
                          <a:latin typeface="Calibri" panose="020F0502020204030204" pitchFamily="34" charset="0"/>
                        </a:rPr>
                        <a:t>Back to target within 2 weeks in the replay. Pass/fail.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978066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4213D"/>
                          </a:solidFill>
                          <a:latin typeface="Calibri" panose="020F0502020204030204" pitchFamily="34" charset="0"/>
                        </a:rPr>
                        <a:t>Tickets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14213D"/>
                          </a:solidFill>
                          <a:latin typeface="Calibri" panose="020F0502020204030204" pitchFamily="34" charset="0"/>
                        </a:rPr>
                        <a:t>From 20–32 a week toward the pre-4.2 5–8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47631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4213D"/>
                          </a:solidFill>
                          <a:latin typeface="Calibri" panose="020F0502020204030204" pitchFamily="34" charset="0"/>
                        </a:rPr>
                        <a:t>Untaken callouts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14213D"/>
                          </a:solidFill>
                          <a:latin typeface="Calibri" panose="020F0502020204030204" pitchFamily="34" charset="0"/>
                        </a:rPr>
                        <a:t>From 11.1% back toward 5.5%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22347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4213D"/>
                          </a:solidFill>
                          <a:latin typeface="Calibri" panose="020F0502020204030204" pitchFamily="34" charset="0"/>
                        </a:rPr>
                        <a:t>No one pays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14213D"/>
                          </a:solidFill>
                          <a:latin typeface="Calibri" panose="020F0502020204030204" pitchFamily="34" charset="0"/>
                        </a:rPr>
                        <a:t>No responder loses more than an agreed share of pings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963611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4213D"/>
                          </a:solidFill>
                          <a:latin typeface="Calibri" panose="020F0502020204030204" pitchFamily="34" charset="0"/>
                        </a:rPr>
                        <a:t>Early warning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14213D"/>
                          </a:solidFill>
                          <a:latin typeface="Calibri" panose="020F0502020204030204" pitchFamily="34" charset="0"/>
                        </a:rPr>
                        <a:t>Weekly list of anyone unpinged for 7 days (Ravi)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2929728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4213D"/>
                          </a:solidFill>
                          <a:latin typeface="Calibri" panose="020F0502020204030204" pitchFamily="34" charset="0"/>
                        </a:rPr>
                        <a:t>Guardrail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14213D"/>
                          </a:solidFill>
                          <a:latin typeface="Calibri" panose="020F0502020204030204" pitchFamily="34" charset="0"/>
                        </a:rPr>
                        <a:t>Acceptance and time-to-accept no worse; reported per responder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16853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3098DBB-27BE-CFD9-D306-906878D00CDF}"/>
              </a:ext>
            </a:extLst>
          </p:cNvPr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4A5670"/>
                </a:solidFill>
                <a:latin typeface="Calibri" panose="020F0502020204030204" pitchFamily="34" charset="0"/>
              </a:rPr>
              <a:t>Targets are proposals, to agree with Marcus and Ravi.</a:t>
            </a:r>
          </a:p>
        </p:txBody>
      </p:sp>
    </p:spTree>
    <p:extLst>
      <p:ext uri="{BB962C8B-B14F-4D97-AF65-F5344CB8AC3E}">
        <p14:creationId xmlns:p14="http://schemas.microsoft.com/office/powerpoint/2010/main" val="610776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C606BF-07C8-FAB5-87CC-C48E18CB4F8C}"/>
              </a:ext>
            </a:extLst>
          </p:cNvPr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8A94A8"/>
                </a:solidFill>
                <a:latin typeface="Calibri" panose="020F0502020204030204" pitchFamily="34" charset="0"/>
              </a:rPr>
              <a:t>Rook Dispatch  ·  Quiet responders brief  ·  Draft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67B157-1DB2-182F-6EB2-CBF6D3B6AFF7}"/>
              </a:ext>
            </a:extLst>
          </p:cNvPr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>
                <a:solidFill>
                  <a:srgbClr val="8A94A8"/>
                </a:solidFill>
                <a:latin typeface="Calibri" panose="020F0502020204030204" pitchFamily="34" charset="0"/>
              </a:rPr>
              <a:t>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11735C-ACC9-BC6B-8916-9E333F315484}"/>
              </a:ext>
            </a:extLst>
          </p:cNvPr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400" b="1">
                <a:solidFill>
                  <a:srgbClr val="14213D"/>
                </a:solidFill>
                <a:latin typeface="Cambria" panose="02040503050406030204" pitchFamily="18" charset="0"/>
              </a:rPr>
              <a:t>Technical effort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FD097B-7803-A076-4D77-C52D5886A3C0}"/>
              </a:ext>
            </a:extLst>
          </p:cNvPr>
          <p:cNvSpPr/>
          <p:nvPr/>
        </p:nvSpPr>
        <p:spPr>
          <a:xfrm>
            <a:off x="457200" y="1280160"/>
            <a:ext cx="3977640" cy="3200400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D74B23-113A-5CF1-24C1-72BAC799414A}"/>
              </a:ext>
            </a:extLst>
          </p:cNvPr>
          <p:cNvSpPr txBox="1"/>
          <p:nvPr/>
        </p:nvSpPr>
        <p:spPr>
          <a:xfrm>
            <a:off x="640080" y="1371600"/>
            <a:ext cx="361188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 b="1">
                <a:solidFill>
                  <a:srgbClr val="C8452D"/>
                </a:solidFill>
                <a:latin typeface="Cambria" panose="02040503050406030204" pitchFamily="18" charset="0"/>
              </a:rPr>
              <a:t>Not yet estimated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0174BA-645B-A970-D93C-8EE51B4B2B92}"/>
              </a:ext>
            </a:extLst>
          </p:cNvPr>
          <p:cNvSpPr txBox="1"/>
          <p:nvPr/>
        </p:nvSpPr>
        <p:spPr>
          <a:xfrm>
            <a:off x="640080" y="1920240"/>
            <a:ext cx="3611880" cy="6400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Marcus to estimate, with Wen Li on the ranking logic.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8FB3FC-6EBF-1C5D-476E-DA59D8CFFB23}"/>
              </a:ext>
            </a:extLst>
          </p:cNvPr>
          <p:cNvSpPr txBox="1"/>
          <p:nvPr/>
        </p:nvSpPr>
        <p:spPr>
          <a:xfrm>
            <a:off x="640080" y="2606040"/>
            <a:ext cx="3611880" cy="914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Helen's note: engineering sees the fix as small enough to ship in an afternoon. That is the number change only.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F5945F-5B7D-0105-0D1B-E0AFEDD2770E}"/>
              </a:ext>
            </a:extLst>
          </p:cNvPr>
          <p:cNvSpPr txBox="1"/>
          <p:nvPr/>
        </p:nvSpPr>
        <p:spPr>
          <a:xfrm>
            <a:off x="640080" y="3611880"/>
            <a:ext cx="3611880" cy="7315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Availability Record unchanged, so no Supply work expected.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2916C6-88EC-F6C0-3B58-7A1F3E59157E}"/>
              </a:ext>
            </a:extLst>
          </p:cNvPr>
          <p:cNvSpPr/>
          <p:nvPr/>
        </p:nvSpPr>
        <p:spPr>
          <a:xfrm>
            <a:off x="4709160" y="1280160"/>
            <a:ext cx="3977640" cy="3200400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A3C7BA-D36E-52EE-E929-FFB6C7174277}"/>
              </a:ext>
            </a:extLst>
          </p:cNvPr>
          <p:cNvSpPr txBox="1"/>
          <p:nvPr/>
        </p:nvSpPr>
        <p:spPr>
          <a:xfrm>
            <a:off x="4892040" y="1371600"/>
            <a:ext cx="3611880" cy="4114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>
                <a:solidFill>
                  <a:srgbClr val="1F7A6F"/>
                </a:solidFill>
                <a:latin typeface="Cambria" panose="02040503050406030204" pitchFamily="18" charset="0"/>
              </a:rPr>
              <a:t>Size these separately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A520F0-E9DD-C257-07E5-606FB6B05257}"/>
              </a:ext>
            </a:extLst>
          </p:cNvPr>
          <p:cNvSpPr txBox="1"/>
          <p:nvPr/>
        </p:nvSpPr>
        <p:spPr>
          <a:xfrm>
            <a:off x="4892040" y="1874520"/>
            <a:ext cx="3611880" cy="2514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77800" indent="-177800">
              <a:spcAft>
                <a:spcPts val="400"/>
              </a:spcAft>
              <a:buFont typeface="+mj-lt"/>
              <a:buChar char="•"/>
            </a:pPr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Scoring change: miss cost and fading</a:t>
            </a:r>
          </a:p>
          <a:p>
            <a:pPr marL="177800" indent="-177800">
              <a:spcAft>
                <a:spcPts val="400"/>
              </a:spcAft>
              <a:buFont typeface="+mj-lt"/>
              <a:buChar char="•"/>
            </a:pPr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The "no one is left out" rule</a:t>
            </a:r>
          </a:p>
          <a:p>
            <a:pPr marL="177800" indent="-177800">
              <a:spcAft>
                <a:spcPts val="400"/>
              </a:spcAft>
              <a:buFont typeface="+mj-lt"/>
              <a:buChar char="•"/>
            </a:pPr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Handler and Support flag</a:t>
            </a:r>
          </a:p>
          <a:p>
            <a:pPr marL="177800" indent="-177800">
              <a:spcAft>
                <a:spcPts val="400"/>
              </a:spcAft>
              <a:buFont typeface="+mj-lt"/>
              <a:buChar char="•"/>
            </a:pPr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Handler card</a:t>
            </a:r>
          </a:p>
          <a:p>
            <a:pPr marL="177800" indent="-177800">
              <a:spcAft>
                <a:spcPts val="400"/>
              </a:spcAft>
              <a:buFont typeface="+mj-lt"/>
              <a:buChar char="•"/>
            </a:pPr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Phone view</a:t>
            </a:r>
          </a:p>
          <a:p>
            <a:pPr marL="177800" indent="-177800">
              <a:spcAft>
                <a:spcPts val="400"/>
              </a:spcAft>
              <a:buFont typeface="+mj-lt"/>
              <a:buChar char="•"/>
            </a:pPr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Per-responder acceptance reporting</a:t>
            </a:r>
          </a:p>
          <a:p>
            <a:pPr marL="177800" indent="-177800">
              <a:spcAft>
                <a:spcPts val="400"/>
              </a:spcAft>
              <a:buFont typeface="+mj-lt"/>
              <a:buChar char="•"/>
            </a:pPr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Replay test</a:t>
            </a:r>
          </a:p>
        </p:txBody>
      </p:sp>
    </p:spTree>
    <p:extLst>
      <p:ext uri="{BB962C8B-B14F-4D97-AF65-F5344CB8AC3E}">
        <p14:creationId xmlns:p14="http://schemas.microsoft.com/office/powerpoint/2010/main" val="3076216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DA33C4-6410-4D44-C810-A86B5951707E}"/>
              </a:ext>
            </a:extLst>
          </p:cNvPr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8A94A8"/>
                </a:solidFill>
                <a:latin typeface="Calibri" panose="020F0502020204030204" pitchFamily="34" charset="0"/>
              </a:rPr>
              <a:t>Rook Dispatch  ·  Quiet responders brief  ·  Draft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7705E6-8A5C-64D2-3A86-B636AEA997D3}"/>
              </a:ext>
            </a:extLst>
          </p:cNvPr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>
                <a:solidFill>
                  <a:srgbClr val="8A94A8"/>
                </a:solidFill>
                <a:latin typeface="Calibri" panose="020F0502020204030204" pitchFamily="34" charset="0"/>
              </a:rPr>
              <a:t>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2F9E43-893B-A7FF-7770-3A6CA225209F}"/>
              </a:ext>
            </a:extLst>
          </p:cNvPr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400" b="1">
                <a:solidFill>
                  <a:srgbClr val="14213D"/>
                </a:solidFill>
                <a:latin typeface="Cambria" panose="02040503050406030204" pitchFamily="18" charset="0"/>
              </a:rPr>
              <a:t>Before this is buildable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10E76E-7871-C0BC-DDFD-11AF4EF26D41}"/>
              </a:ext>
            </a:extLst>
          </p:cNvPr>
          <p:cNvSpPr/>
          <p:nvPr/>
        </p:nvSpPr>
        <p:spPr>
          <a:xfrm>
            <a:off x="457200" y="1280160"/>
            <a:ext cx="3977640" cy="1508760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6ACCCD-02B0-191B-141D-84D7D2A30E3F}"/>
              </a:ext>
            </a:extLst>
          </p:cNvPr>
          <p:cNvSpPr txBox="1"/>
          <p:nvPr/>
        </p:nvSpPr>
        <p:spPr>
          <a:xfrm>
            <a:off x="640080" y="1371600"/>
            <a:ext cx="3611880" cy="3657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1F7A6F"/>
                </a:solidFill>
                <a:latin typeface="Cambria" panose="02040503050406030204" pitchFamily="18" charset="0"/>
              </a:rPr>
              <a:t>Refresh the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3B498A-B777-3C59-38B5-0AC8D1727342}"/>
              </a:ext>
            </a:extLst>
          </p:cNvPr>
          <p:cNvSpPr txBox="1"/>
          <p:nvPr/>
        </p:nvSpPr>
        <p:spPr>
          <a:xfrm>
            <a:off x="640080" y="1783080"/>
            <a:ext cx="3611880" cy="914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Ends 6–7 Sep; today is 16 Oct. Did the four recover or get worse? (Ravi)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2FD0C3-B0C0-E20A-2CD3-F58E4ED7FDFE}"/>
              </a:ext>
            </a:extLst>
          </p:cNvPr>
          <p:cNvSpPr/>
          <p:nvPr/>
        </p:nvSpPr>
        <p:spPr>
          <a:xfrm>
            <a:off x="4709160" y="1280160"/>
            <a:ext cx="3977640" cy="1508760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A7D559-9D81-2090-338F-71748075BC9A}"/>
              </a:ext>
            </a:extLst>
          </p:cNvPr>
          <p:cNvSpPr txBox="1"/>
          <p:nvPr/>
        </p:nvSpPr>
        <p:spPr>
          <a:xfrm>
            <a:off x="4892040" y="1371600"/>
            <a:ext cx="3611880" cy="3657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1F7A6F"/>
                </a:solidFill>
                <a:latin typeface="Cambria" panose="02040503050406030204" pitchFamily="18" charset="0"/>
              </a:rPr>
              <a:t>Confirm production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4B8553-50B1-01B7-D689-80CDDCD19157}"/>
              </a:ext>
            </a:extLst>
          </p:cNvPr>
          <p:cNvSpPr txBox="1"/>
          <p:nvPr/>
        </p:nvSpPr>
        <p:spPr>
          <a:xfrm>
            <a:off x="4892040" y="1783080"/>
            <a:ext cx="3611880" cy="914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Our code is a simplified copy. We need the real scores, weights and penalty. (Wen Li, Marcus)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5B08C7-FD86-2B14-72CC-33FEC873A9D5}"/>
              </a:ext>
            </a:extLst>
          </p:cNvPr>
          <p:cNvSpPr/>
          <p:nvPr/>
        </p:nvSpPr>
        <p:spPr>
          <a:xfrm>
            <a:off x="457200" y="2926080"/>
            <a:ext cx="3977640" cy="1508760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CAC3F5-0232-EC70-4A2A-F21DF35773F3}"/>
              </a:ext>
            </a:extLst>
          </p:cNvPr>
          <p:cNvSpPr txBox="1"/>
          <p:nvPr/>
        </p:nvSpPr>
        <p:spPr>
          <a:xfrm>
            <a:off x="640080" y="3017520"/>
            <a:ext cx="3611880" cy="3657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1F7A6F"/>
                </a:solidFill>
                <a:latin typeface="Cambria" panose="02040503050406030204" pitchFamily="18" charset="0"/>
              </a:rPr>
              <a:t>Get response times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3F2E0E-77DA-4AC1-512A-F7374C047AF2}"/>
              </a:ext>
            </a:extLst>
          </p:cNvPr>
          <p:cNvSpPr txBox="1"/>
          <p:nvPr/>
        </p:nvSpPr>
        <p:spPr>
          <a:xfrm>
            <a:off x="640080" y="3429000"/>
            <a:ext cx="3611880" cy="914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None exist today, so timer and score can't be told apart. (Ravi)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772BB2-01C6-C0D1-6687-8E05A55875E4}"/>
              </a:ext>
            </a:extLst>
          </p:cNvPr>
          <p:cNvSpPr/>
          <p:nvPr/>
        </p:nvSpPr>
        <p:spPr>
          <a:xfrm>
            <a:off x="4709160" y="2926080"/>
            <a:ext cx="3977640" cy="1508760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3B6B62-4EB7-875A-DF4A-E465EB639372}"/>
              </a:ext>
            </a:extLst>
          </p:cNvPr>
          <p:cNvSpPr txBox="1"/>
          <p:nvPr/>
        </p:nvSpPr>
        <p:spPr>
          <a:xfrm>
            <a:off x="4892040" y="3017520"/>
            <a:ext cx="3611880" cy="3657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1F7A6F"/>
                </a:solidFill>
                <a:latin typeface="Cambria" panose="02040503050406030204" pitchFamily="18" charset="0"/>
              </a:rPr>
              <a:t>Diagnose Vesper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F6C140-5618-5E4A-3D9F-1B7719A29DA8}"/>
              </a:ext>
            </a:extLst>
          </p:cNvPr>
          <p:cNvSpPr txBox="1"/>
          <p:nvPr/>
        </p:nvSpPr>
        <p:spPr>
          <a:xfrm>
            <a:off x="4892040" y="3429000"/>
            <a:ext cx="3611880" cy="914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Score doesn't explain Vesper (still about 0.8 on 17 Aug). Check availability, travel time, response time.</a:t>
            </a:r>
          </a:p>
        </p:txBody>
      </p:sp>
    </p:spTree>
    <p:extLst>
      <p:ext uri="{BB962C8B-B14F-4D97-AF65-F5344CB8AC3E}">
        <p14:creationId xmlns:p14="http://schemas.microsoft.com/office/powerpoint/2010/main" val="2729540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328420-CBDB-F106-91C5-90BB49FFBF82}"/>
              </a:ext>
            </a:extLst>
          </p:cNvPr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8A94A8"/>
                </a:solidFill>
                <a:latin typeface="Calibri" panose="020F0502020204030204" pitchFamily="34" charset="0"/>
              </a:rPr>
              <a:t>Rook Dispatch  ·  Quiet responders brief  ·  Draft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79077B-C5FA-5AB3-E7B0-0CC613515B3B}"/>
              </a:ext>
            </a:extLst>
          </p:cNvPr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>
                <a:solidFill>
                  <a:srgbClr val="8A94A8"/>
                </a:solidFill>
                <a:latin typeface="Calibri" panose="020F0502020204030204" pitchFamily="34" charset="0"/>
              </a:rPr>
              <a:t>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79F958-DC26-4E24-F223-018960FC2612}"/>
              </a:ext>
            </a:extLst>
          </p:cNvPr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400" b="1">
                <a:solidFill>
                  <a:srgbClr val="14213D"/>
                </a:solidFill>
                <a:latin typeface="Cambria" panose="02040503050406030204" pitchFamily="18" charset="0"/>
              </a:rPr>
              <a:t>Decisions still open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2FBC7A-377B-3779-6A12-D7A67A4E6682}"/>
              </a:ext>
            </a:extLst>
          </p:cNvPr>
          <p:cNvSpPr/>
          <p:nvPr/>
        </p:nvSpPr>
        <p:spPr>
          <a:xfrm>
            <a:off x="457200" y="1234440"/>
            <a:ext cx="3977640" cy="1261872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03AD7F-7793-BE5E-141C-DBA6EF072D27}"/>
              </a:ext>
            </a:extLst>
          </p:cNvPr>
          <p:cNvSpPr txBox="1"/>
          <p:nvPr/>
        </p:nvSpPr>
        <p:spPr>
          <a:xfrm>
            <a:off x="640080" y="1307592"/>
            <a:ext cx="3611880" cy="3657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C8452D"/>
                </a:solidFill>
                <a:latin typeface="Cambria" panose="02040503050406030204" pitchFamily="18" charset="0"/>
              </a:rPr>
              <a:t>Ping wait for returners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3CABDC-172D-4F55-27FA-F176AF855A75}"/>
              </a:ext>
            </a:extLst>
          </p:cNvPr>
          <p:cNvSpPr txBox="1"/>
          <p:nvPr/>
        </p:nvSpPr>
        <p:spPr>
          <a:xfrm>
            <a:off x="640080" y="1691640"/>
            <a:ext cx="3611880" cy="7772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Keep 60 s, give first pings 90 s, or move it back? It matters if Vesper's misses are about the wait. (Helen)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B1A4D8-BF8B-E10C-B0EB-2CD1771951D0}"/>
              </a:ext>
            </a:extLst>
          </p:cNvPr>
          <p:cNvSpPr/>
          <p:nvPr/>
        </p:nvSpPr>
        <p:spPr>
          <a:xfrm>
            <a:off x="4709160" y="1234440"/>
            <a:ext cx="3977640" cy="1261872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8B523B-F155-CE94-6160-C97AC2DB3ACA}"/>
              </a:ext>
            </a:extLst>
          </p:cNvPr>
          <p:cNvSpPr txBox="1"/>
          <p:nvPr/>
        </p:nvSpPr>
        <p:spPr>
          <a:xfrm>
            <a:off x="4892040" y="1307592"/>
            <a:ext cx="3611880" cy="3657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C8452D"/>
                </a:solidFill>
                <a:latin typeface="Cambria" panose="02040503050406030204" pitchFamily="18" charset="0"/>
              </a:rPr>
              <a:t>Turn-downs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AE3D4D-F316-00A1-9687-51DF08384B46}"/>
              </a:ext>
            </a:extLst>
          </p:cNvPr>
          <p:cNvSpPr txBox="1"/>
          <p:nvPr/>
        </p:nvSpPr>
        <p:spPr>
          <a:xfrm>
            <a:off x="4892040" y="1691640"/>
            <a:ext cx="3611880" cy="7772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Fade misses only (our default) or turn-downs too? (Wen Li, Helen)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A92D03-2826-9FAE-9FE4-E703D4988215}"/>
              </a:ext>
            </a:extLst>
          </p:cNvPr>
          <p:cNvSpPr/>
          <p:nvPr/>
        </p:nvSpPr>
        <p:spPr>
          <a:xfrm>
            <a:off x="457200" y="2606040"/>
            <a:ext cx="3977640" cy="1261872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E2A70F-006F-F3F8-2189-C95EE3022537}"/>
              </a:ext>
            </a:extLst>
          </p:cNvPr>
          <p:cNvSpPr txBox="1"/>
          <p:nvPr/>
        </p:nvSpPr>
        <p:spPr>
          <a:xfrm>
            <a:off x="640080" y="2679192"/>
            <a:ext cx="3611880" cy="3657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C8452D"/>
                </a:solidFill>
                <a:latin typeface="Cambria" panose="02040503050406030204" pitchFamily="18" charset="0"/>
              </a:rPr>
              <a:t>Show "ranked low"?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C76FDE-5BA8-38A0-CDE6-20BB14083755}"/>
              </a:ext>
            </a:extLst>
          </p:cNvPr>
          <p:cNvSpPr txBox="1"/>
          <p:nvPr/>
        </p:nvSpPr>
        <p:spPr>
          <a:xfrm>
            <a:off x="640080" y="3063240"/>
            <a:ext cx="3611880" cy="7772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It reveals routing logic to handlers. (Helen)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E71092-545A-3BCE-C5D7-D6C658D11175}"/>
              </a:ext>
            </a:extLst>
          </p:cNvPr>
          <p:cNvSpPr/>
          <p:nvPr/>
        </p:nvSpPr>
        <p:spPr>
          <a:xfrm>
            <a:off x="4709160" y="2606040"/>
            <a:ext cx="3977640" cy="1261872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5E3C64-4A29-918D-42F9-F04DE30800EA}"/>
              </a:ext>
            </a:extLst>
          </p:cNvPr>
          <p:cNvSpPr txBox="1"/>
          <p:nvPr/>
        </p:nvSpPr>
        <p:spPr>
          <a:xfrm>
            <a:off x="4892040" y="2679192"/>
            <a:ext cx="3611880" cy="3657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C8452D"/>
                </a:solidFill>
                <a:latin typeface="Cambria" panose="02040503050406030204" pitchFamily="18" charset="0"/>
              </a:rPr>
              <a:t>Return period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240A8A-8ACE-4593-D013-261CE126DD06}"/>
              </a:ext>
            </a:extLst>
          </p:cNvPr>
          <p:cNvSpPr txBox="1"/>
          <p:nvPr/>
        </p:nvSpPr>
        <p:spPr>
          <a:xfrm>
            <a:off x="4892040" y="3063240"/>
            <a:ext cx="3611880" cy="7772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How long before a quiet responder returns, and whether returners get a trial run. (Engineering)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81A141-C6BF-CD1C-C3A2-73BF9F5D4B11}"/>
              </a:ext>
            </a:extLst>
          </p:cNvPr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4A5670"/>
                </a:solidFill>
                <a:latin typeface="Calibri" panose="020F0502020204030204" pitchFamily="34" charset="0"/>
              </a:rPr>
              <a:t>Also needed: a replay test with pass/fail written first, a rollout and rollback plan, handler and responder comms, card wording tested by Sofia.</a:t>
            </a:r>
          </a:p>
        </p:txBody>
      </p:sp>
    </p:spTree>
    <p:extLst>
      <p:ext uri="{BB962C8B-B14F-4D97-AF65-F5344CB8AC3E}">
        <p14:creationId xmlns:p14="http://schemas.microsoft.com/office/powerpoint/2010/main" val="3135327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396CC7-F97C-76D0-56E6-775A53BD8BD6}"/>
              </a:ext>
            </a:extLst>
          </p:cNvPr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600" b="1">
                <a:solidFill>
                  <a:srgbClr val="FFFFFF"/>
                </a:solidFill>
                <a:latin typeface="Cambria" panose="02040503050406030204" pitchFamily="18" charset="0"/>
              </a:rPr>
              <a:t>Next step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2B4C9BD-B67C-48DA-F2EE-5A263FCEEE7D}"/>
              </a:ext>
            </a:extLst>
          </p:cNvPr>
          <p:cNvSpPr/>
          <p:nvPr/>
        </p:nvSpPr>
        <p:spPr>
          <a:xfrm>
            <a:off x="457200" y="1463040"/>
            <a:ext cx="640080" cy="640080"/>
          </a:xfrm>
          <a:prstGeom prst="ellipse">
            <a:avLst/>
          </a:prstGeom>
          <a:solidFill>
            <a:srgbClr val="FCA31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14213D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667DBB-D8EA-63AF-FA2A-57DF36BE186E}"/>
              </a:ext>
            </a:extLst>
          </p:cNvPr>
          <p:cNvSpPr txBox="1"/>
          <p:nvPr/>
        </p:nvSpPr>
        <p:spPr>
          <a:xfrm>
            <a:off x="1371600" y="1463040"/>
            <a:ext cx="7132320" cy="6400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>
                <a:solidFill>
                  <a:srgbClr val="FFFFFF"/>
                </a:solidFill>
                <a:latin typeface="Calibri" panose="020F0502020204030204" pitchFamily="34" charset="0"/>
              </a:rPr>
              <a:t>Helen confirms this is the shape she wants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EB55BDB-08F1-344F-53E0-FF46ACFEC4C3}"/>
              </a:ext>
            </a:extLst>
          </p:cNvPr>
          <p:cNvSpPr/>
          <p:nvPr/>
        </p:nvSpPr>
        <p:spPr>
          <a:xfrm>
            <a:off x="457200" y="2514600"/>
            <a:ext cx="640080" cy="640080"/>
          </a:xfrm>
          <a:prstGeom prst="ellipse">
            <a:avLst/>
          </a:prstGeom>
          <a:solidFill>
            <a:srgbClr val="FCA31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14213D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1781C5-DD3D-F642-A82A-76AD9802A47E}"/>
              </a:ext>
            </a:extLst>
          </p:cNvPr>
          <p:cNvSpPr txBox="1"/>
          <p:nvPr/>
        </p:nvSpPr>
        <p:spPr>
          <a:xfrm>
            <a:off x="1371600" y="2514600"/>
            <a:ext cx="7132320" cy="6400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>
                <a:solidFill>
                  <a:srgbClr val="FFFFFF"/>
                </a:solidFill>
                <a:latin typeface="Calibri" panose="020F0502020204030204" pitchFamily="34" charset="0"/>
              </a:rPr>
              <a:t>Get the engineering estimate from Marcus, then work the checklist: data refresh and Wen Li first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B1DF537-2B85-CD74-EE58-215BDE660FCC}"/>
              </a:ext>
            </a:extLst>
          </p:cNvPr>
          <p:cNvSpPr/>
          <p:nvPr/>
        </p:nvSpPr>
        <p:spPr>
          <a:xfrm>
            <a:off x="457200" y="3566160"/>
            <a:ext cx="640080" cy="640080"/>
          </a:xfrm>
          <a:prstGeom prst="ellipse">
            <a:avLst/>
          </a:prstGeom>
          <a:solidFill>
            <a:srgbClr val="FCA31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14213D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F07753-5A46-39B4-2FB9-37D23CF6DEC3}"/>
              </a:ext>
            </a:extLst>
          </p:cNvPr>
          <p:cNvSpPr txBox="1"/>
          <p:nvPr/>
        </p:nvSpPr>
        <p:spPr>
          <a:xfrm>
            <a:off x="1371600" y="3566160"/>
            <a:ext cx="7132320" cy="6400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>
                <a:solidFill>
                  <a:srgbClr val="FFFFFF"/>
                </a:solidFill>
                <a:latin typeface="Calibri" panose="020F0502020204030204" pitchFamily="34" charset="0"/>
              </a:rPr>
              <a:t>Use the clickable prototype to test card wording with Sofia, Kip and Aunt Dot</a:t>
            </a:r>
          </a:p>
        </p:txBody>
      </p:sp>
    </p:spTree>
    <p:extLst>
      <p:ext uri="{BB962C8B-B14F-4D97-AF65-F5344CB8AC3E}">
        <p14:creationId xmlns:p14="http://schemas.microsoft.com/office/powerpoint/2010/main" val="4278461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999</Words>
  <Application>Microsoft Office PowerPoint</Application>
  <PresentationFormat>Custom</PresentationFormat>
  <Paragraphs>115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Wilkins, Sandra</dc:creator>
  <cp:lastModifiedBy>Wilkins, Sandra</cp:lastModifiedBy>
  <cp:revision>1</cp:revision>
  <dcterms:created xsi:type="dcterms:W3CDTF">2026-10-16T14:52:12Z</dcterms:created>
  <dcterms:modified xsi:type="dcterms:W3CDTF">2026-10-16T14:52:12Z</dcterms:modified>
</cp:coreProperties>
</file>