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37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E6829-83E4-C361-6D50-67E44EC48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B48915-A768-3B07-D964-3B525A70C4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CD087-4F76-B1DF-4150-CFCCAD03B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B6EA-D91B-4581-8887-FC65E73FBA8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303A6-EFB4-1ED0-2AA8-FD93EF94C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EE7C4-26F9-7E37-E457-E8605E46B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2F8C1-5C13-4F94-9FA8-6D1B7735A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24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2AD85-B118-603D-BCCC-95EC688C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A9962-75B3-070B-6DAD-4262C9F4B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6C1AE-08E6-A255-F452-1EFF3950C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B6EA-D91B-4581-8887-FC65E73FBA8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E9715-633A-3525-50EE-ACB86A55F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56B17-280E-91BF-42C3-37A874FE4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2F8C1-5C13-4F94-9FA8-6D1B7735A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34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222DC-AAC7-6DA7-81C4-1FA70EB7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D30CA-CB3F-D4B5-26AF-8C32BCD27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9103B-F31D-31B0-0640-4999883DE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B6EA-D91B-4581-8887-FC65E73FBA8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F311C-8765-DA03-CB0A-78522E8AF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7D3E5-70D5-5917-69C8-23680B4EE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2F8C1-5C13-4F94-9FA8-6D1B7735A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419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F109B-42A1-57D2-8E94-429C78313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417F7-133B-3FB0-72E5-78DF755E98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A03B6C-0566-770F-F5A5-A63DB364A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E0396-7DF0-8385-07BB-5C7949706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B6EA-D91B-4581-8887-FC65E73FBA8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C36BA7-4943-DA5E-C083-13D26E19F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F85DE-4B09-1295-550D-68079EBED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2F8C1-5C13-4F94-9FA8-6D1B7735A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438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45609-06F0-1EFC-9166-B81077F81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5E429-FCB6-D39E-5580-9DAE03F0C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C62E6-7C3E-4A98-BF27-7B60AC545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CB2D51-D839-EA7D-7E67-12EABCF820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3489A3-1DC2-25F7-DC89-897AE56536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AFCB3A-5F4B-6E6F-C0C9-3A508E3E8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B6EA-D91B-4581-8887-FC65E73FBA8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0132D-8FBB-1EB3-5390-FAB4BEA0B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21E85-0757-5D0A-FB97-64DC9B8B8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2F8C1-5C13-4F94-9FA8-6D1B7735A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703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F26B8-E104-5C45-0164-DC2D4E867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0FF29F-2404-E470-E0A8-258AD5E57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B6EA-D91B-4581-8887-FC65E73FBA8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2317AD-C417-82FA-DEFC-24B2D056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34678A-A905-0239-81B0-FB105F04B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2F8C1-5C13-4F94-9FA8-6D1B7735A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31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72FF60-43B0-5E4C-4F59-D2B1EE3D8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B6EA-D91B-4581-8887-FC65E73FBA8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F6862-E33F-6F12-183E-6CF274D13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20F56-5E88-D29F-802B-C444BFF92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2F8C1-5C13-4F94-9FA8-6D1B7735A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855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A9C0A-CF92-3F69-41C1-16BDB6497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95A51-CD48-FB53-C4B8-0DEE7DD51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B02A7-473F-14B9-0A26-042CE1235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84925-18E5-5024-2AB4-FC18CC619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B6EA-D91B-4581-8887-FC65E73FBA8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22D51-E7BC-C045-21B8-E91A4F0F0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75147-B9AF-E0D1-2DC9-A7387A585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2F8C1-5C13-4F94-9FA8-6D1B7735A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524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B02B0-B304-847F-F283-63AF1104E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40963-0A03-70CA-6D1D-5CEA892C0B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33DBB9-6AC9-5B0D-8CBF-DA2AC8D70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39D1AA-C5F2-7187-E2C4-9A52B144E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B6EA-D91B-4581-8887-FC65E73FBA8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5D63F-798A-A040-8D49-46F1D497B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05616-A263-41A5-57F5-C0A23FBAD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2F8C1-5C13-4F94-9FA8-6D1B7735A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14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C295B-D8D4-B85B-FAC0-6D5B4B75E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025361-0022-2865-ACA9-74BF991D7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E06A0-9B48-F09F-7C94-1DB60B48D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B6EA-D91B-4581-8887-FC65E73FBA8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6F8A5-B428-20D2-2366-F5DF2840B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FADA9-80AD-005C-2BC9-891ACA834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2F8C1-5C13-4F94-9FA8-6D1B7735A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66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8A77FC-87B4-1A0F-DD78-05BAB9C762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BF4252-10E3-5C9D-FE84-266A4AA5A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902DD-4927-444D-3352-11BD36E12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B6EA-D91B-4581-8887-FC65E73FBA8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5C2A9-80C2-6218-71A9-F9AA954F1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567BA-3CF2-CCA5-9EAE-D7EDB3A24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2F8C1-5C13-4F94-9FA8-6D1B7735A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751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C1DD3D-955C-6317-6489-144FD2487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6FF1C-C75B-32FE-855C-0D7161684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3AE5F-136A-A5AA-E52E-22080E277C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77B6EA-D91B-4581-8887-FC65E73FBA8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9F059-795C-A689-61EB-26C77734AB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B4412-FABF-CBBA-B800-3B1A6E32C9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A2F8C1-5C13-4F94-9FA8-6D1B7735A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5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2C74D3-C500-7BC1-91D9-93D4910AF5AA}"/>
              </a:ext>
            </a:extLst>
          </p:cNvPr>
          <p:cNvSpPr txBox="1"/>
          <p:nvPr/>
        </p:nvSpPr>
        <p:spPr>
          <a:xfrm>
            <a:off x="457200" y="1280160"/>
            <a:ext cx="7772400" cy="1371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400" b="1">
                <a:solidFill>
                  <a:srgbClr val="FFFFFF"/>
                </a:solidFill>
                <a:latin typeface="Cambria" panose="02040503050406030204" pitchFamily="18" charset="0"/>
              </a:rPr>
              <a:t>A way back for quiet responders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BC1C40-478B-BB11-130D-3322FB6AD616}"/>
              </a:ext>
            </a:extLst>
          </p:cNvPr>
          <p:cNvSpPr txBox="1"/>
          <p:nvPr/>
        </p:nvSpPr>
        <p:spPr>
          <a:xfrm>
            <a:off x="457200" y="2834640"/>
            <a:ext cx="7772400" cy="3657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>
                <a:solidFill>
                  <a:srgbClr val="FCA311"/>
                </a:solidFill>
                <a:latin typeface="Calibri" panose="020F0502020204030204" pitchFamily="34" charset="0"/>
              </a:rPr>
              <a:t>Product brief  ·  Rook Dispatch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9CA6CC-30B6-4929-9FB9-A39C09E030DB}"/>
              </a:ext>
            </a:extLst>
          </p:cNvPr>
          <p:cNvSpPr txBox="1"/>
          <p:nvPr/>
        </p:nvSpPr>
        <p:spPr>
          <a:xfrm>
            <a:off x="457200" y="3291840"/>
            <a:ext cx="6858000" cy="6400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D9DEE8"/>
                </a:solidFill>
                <a:latin typeface="Calibri" panose="020F0502020204030204" pitchFamily="34" charset="0"/>
              </a:rPr>
              <a:t>Draft for Helen Achebe, for discussion before any code changes. Not yet reviewed by engineering.</a:t>
            </a:r>
          </a:p>
        </p:txBody>
      </p:sp>
    </p:spTree>
    <p:extLst>
      <p:ext uri="{BB962C8B-B14F-4D97-AF65-F5344CB8AC3E}">
        <p14:creationId xmlns:p14="http://schemas.microsoft.com/office/powerpoint/2010/main" val="2741431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5C05F4-CA9A-AC5B-31B2-FCE8FFB014E6}"/>
              </a:ext>
            </a:extLst>
          </p:cNvPr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Rook Dispatch  ·  Quiet responders brief  ·  Draft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26BD60-4C67-9850-D539-21DB023F3ABF}"/>
              </a:ext>
            </a:extLst>
          </p:cNvPr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A89C5-3048-5228-1CAE-3306B9E37A52}"/>
              </a:ext>
            </a:extLst>
          </p:cNvPr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400" b="1">
                <a:solidFill>
                  <a:srgbClr val="14213D"/>
                </a:solidFill>
                <a:latin typeface="Cambria" panose="02040503050406030204" pitchFamily="18" charset="0"/>
              </a:rPr>
              <a:t>Why now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57DB82-5CAB-D54D-1858-6E6523E7BD4F}"/>
              </a:ext>
            </a:extLst>
          </p:cNvPr>
          <p:cNvSpPr/>
          <p:nvPr/>
        </p:nvSpPr>
        <p:spPr>
          <a:xfrm>
            <a:off x="457200" y="1280160"/>
            <a:ext cx="2560320" cy="201168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BA23D1-2C40-CC05-CA6C-AD8B4FECFD24}"/>
              </a:ext>
            </a:extLst>
          </p:cNvPr>
          <p:cNvSpPr txBox="1"/>
          <p:nvPr/>
        </p:nvSpPr>
        <p:spPr>
          <a:xfrm>
            <a:off x="594360" y="1371600"/>
            <a:ext cx="228600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600" b="1">
                <a:solidFill>
                  <a:srgbClr val="1F7A6F"/>
                </a:solidFill>
                <a:latin typeface="Cambria" panose="02040503050406030204" pitchFamily="18" charset="0"/>
              </a:rPr>
              <a:t>4 of 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CC51A3-074B-E412-9B19-8ABE87C040A2}"/>
              </a:ext>
            </a:extLst>
          </p:cNvPr>
          <p:cNvSpPr txBox="1"/>
          <p:nvPr/>
        </p:nvSpPr>
        <p:spPr>
          <a:xfrm>
            <a:off x="594360" y="2103120"/>
            <a:ext cx="2286000" cy="10972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responders nearly stopped getting pings after 4.2 (Farlight, Meteor Mite, The Undertow, Vesper)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1600D6-5290-8F1D-D5B5-8CD320DC1B09}"/>
              </a:ext>
            </a:extLst>
          </p:cNvPr>
          <p:cNvSpPr/>
          <p:nvPr/>
        </p:nvSpPr>
        <p:spPr>
          <a:xfrm>
            <a:off x="3291840" y="1280160"/>
            <a:ext cx="2560320" cy="201168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C39E01-C036-27D4-49EC-8CEF117C0D94}"/>
              </a:ext>
            </a:extLst>
          </p:cNvPr>
          <p:cNvSpPr txBox="1"/>
          <p:nvPr/>
        </p:nvSpPr>
        <p:spPr>
          <a:xfrm>
            <a:off x="3429000" y="1371600"/>
            <a:ext cx="228600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600" b="1">
                <a:solidFill>
                  <a:srgbClr val="1F7A6F"/>
                </a:solidFill>
                <a:latin typeface="Cambria" panose="02040503050406030204" pitchFamily="18" charset="0"/>
              </a:rPr>
              <a:t>70–86 →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2EC5DE-0AA4-842E-4A8A-5DDF2363768A}"/>
              </a:ext>
            </a:extLst>
          </p:cNvPr>
          <p:cNvSpPr txBox="1"/>
          <p:nvPr/>
        </p:nvSpPr>
        <p:spPr>
          <a:xfrm>
            <a:off x="3429000" y="2103120"/>
            <a:ext cx="2286000" cy="10972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pings before 4.2, down to about one a week by late August. No recovery.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84D1CD-C90A-1E36-8740-8BA6F1CC9AF4}"/>
              </a:ext>
            </a:extLst>
          </p:cNvPr>
          <p:cNvSpPr/>
          <p:nvPr/>
        </p:nvSpPr>
        <p:spPr>
          <a:xfrm>
            <a:off x="6126480" y="1280160"/>
            <a:ext cx="2560320" cy="201168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220593-EE86-68A4-AB2F-541E8F8BFF74}"/>
              </a:ext>
            </a:extLst>
          </p:cNvPr>
          <p:cNvSpPr txBox="1"/>
          <p:nvPr/>
        </p:nvSpPr>
        <p:spPr>
          <a:xfrm>
            <a:off x="6263640" y="1371600"/>
            <a:ext cx="228600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600" b="1">
                <a:solidFill>
                  <a:srgbClr val="1F7A6F"/>
                </a:solidFill>
                <a:latin typeface="Cambria" panose="02040503050406030204" pitchFamily="18" charset="0"/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35C273-CBB0-A1A5-3ABD-EA7CBD81CA50}"/>
              </a:ext>
            </a:extLst>
          </p:cNvPr>
          <p:cNvSpPr txBox="1"/>
          <p:nvPr/>
        </p:nvSpPr>
        <p:spPr>
          <a:xfrm>
            <a:off x="6263640" y="2103120"/>
            <a:ext cx="2286000" cy="10972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pings taken by the four from 24 Aug: 9 pings, 7 missed, 2 turned down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D2FC59-A289-B58E-7D77-A641C0AB51A6}"/>
              </a:ext>
            </a:extLst>
          </p:cNvPr>
          <p:cNvSpPr txBox="1"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>
                <a:solidFill>
                  <a:srgbClr val="14213D"/>
                </a:solidFill>
                <a:latin typeface="Calibri" panose="020F0502020204030204" pitchFamily="34" charset="0"/>
              </a:rPr>
              <a:t>Why they can't climb back</a:t>
            </a: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 (as the code reads; production unconfirmed): a score only changes when a ping is answered, nothing fades with time, and a miss costs 0.12 while a take earns 0.08.</a:t>
            </a:r>
          </a:p>
        </p:txBody>
      </p:sp>
    </p:spTree>
    <p:extLst>
      <p:ext uri="{BB962C8B-B14F-4D97-AF65-F5344CB8AC3E}">
        <p14:creationId xmlns:p14="http://schemas.microsoft.com/office/powerpoint/2010/main" val="2406073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4CC2CC-2FF9-9313-F89D-6B1C11709697}"/>
              </a:ext>
            </a:extLst>
          </p:cNvPr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Rook Dispatch  ·  Quiet responders brief  ·  Draft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0E3B9-54A6-1413-0265-AA841C5AFBD6}"/>
              </a:ext>
            </a:extLst>
          </p:cNvPr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6D42CB-879D-EDA8-0AFB-B1769A62562E}"/>
              </a:ext>
            </a:extLst>
          </p:cNvPr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400" b="1">
                <a:solidFill>
                  <a:srgbClr val="14213D"/>
                </a:solidFill>
                <a:latin typeface="Cambria" panose="02040503050406030204" pitchFamily="18" charset="0"/>
              </a:rPr>
              <a:t>Who it's for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DA91EE-23F7-8E5C-FAF9-7A685767F10D}"/>
              </a:ext>
            </a:extLst>
          </p:cNvPr>
          <p:cNvSpPr/>
          <p:nvPr/>
        </p:nvSpPr>
        <p:spPr>
          <a:xfrm>
            <a:off x="457200" y="1280160"/>
            <a:ext cx="2560320" cy="315468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779A89-A2E0-4127-64F1-EA5D69160B16}"/>
              </a:ext>
            </a:extLst>
          </p:cNvPr>
          <p:cNvSpPr txBox="1"/>
          <p:nvPr/>
        </p:nvSpPr>
        <p:spPr>
          <a:xfrm>
            <a:off x="594360" y="1371600"/>
            <a:ext cx="228600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C8452D"/>
                </a:solidFill>
                <a:latin typeface="Calibri" panose="020F0502020204030204" pitchFamily="34" charset="0"/>
              </a:rPr>
              <a:t>PRIMARY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6133F2-2616-C59F-CEA5-C2E08763CA50}"/>
              </a:ext>
            </a:extLst>
          </p:cNvPr>
          <p:cNvSpPr txBox="1"/>
          <p:nvPr/>
        </p:nvSpPr>
        <p:spPr>
          <a:xfrm>
            <a:off x="594360" y="1645920"/>
            <a:ext cx="2286000" cy="6400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14213D"/>
                </a:solidFill>
                <a:latin typeface="Cambria" panose="02040503050406030204" pitchFamily="18" charset="0"/>
              </a:rPr>
              <a:t>Quiet responders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E966F0-A91B-34C3-E3DC-6722CE715CD1}"/>
              </a:ext>
            </a:extLst>
          </p:cNvPr>
          <p:cNvSpPr txBox="1"/>
          <p:nvPr/>
        </p:nvSpPr>
        <p:spPr>
          <a:xfrm>
            <a:off x="594360" y="2377440"/>
            <a:ext cx="2286000" cy="20116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Answered most pings, missed a run, now sit at the bottom of the order. Their phone doesn't go off and they don't know why. Today: Vesper, Farlight, Meteor Mite, The Undertow.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AAD1BC-B523-19EE-89A8-3CD3BA7C94E3}"/>
              </a:ext>
            </a:extLst>
          </p:cNvPr>
          <p:cNvSpPr/>
          <p:nvPr/>
        </p:nvSpPr>
        <p:spPr>
          <a:xfrm>
            <a:off x="3291840" y="1280160"/>
            <a:ext cx="2560320" cy="315468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9F413C-1664-2004-9A4F-CDE7D6F30B6F}"/>
              </a:ext>
            </a:extLst>
          </p:cNvPr>
          <p:cNvSpPr txBox="1"/>
          <p:nvPr/>
        </p:nvSpPr>
        <p:spPr>
          <a:xfrm>
            <a:off x="3429000" y="1371600"/>
            <a:ext cx="228600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C8452D"/>
                </a:solidFill>
                <a:latin typeface="Calibri" panose="020F0502020204030204" pitchFamily="34" charset="0"/>
              </a:rPr>
              <a:t>SECONDARY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C560A1-5FAF-DD42-4060-2E795130DE73}"/>
              </a:ext>
            </a:extLst>
          </p:cNvPr>
          <p:cNvSpPr txBox="1"/>
          <p:nvPr/>
        </p:nvSpPr>
        <p:spPr>
          <a:xfrm>
            <a:off x="3429000" y="1645920"/>
            <a:ext cx="2286000" cy="6400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14213D"/>
                </a:solidFill>
                <a:latin typeface="Cambria" panose="02040503050406030204" pitchFamily="18" charset="0"/>
              </a:rPr>
              <a:t>Their handlers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E73847-DD48-2E4D-F26B-AE3049C18A97}"/>
              </a:ext>
            </a:extLst>
          </p:cNvPr>
          <p:cNvSpPr txBox="1"/>
          <p:nvPr/>
        </p:nvSpPr>
        <p:spPr>
          <a:xfrm>
            <a:off x="3429000" y="2377440"/>
            <a:ext cx="2286000" cy="20116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Kip and Aunt Dot get the texts and the tickets, but can't tell "it's slow" from "Dispatch stopped choosing them".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FABC22-B1E3-DD90-1FD2-D7D395074E95}"/>
              </a:ext>
            </a:extLst>
          </p:cNvPr>
          <p:cNvSpPr/>
          <p:nvPr/>
        </p:nvSpPr>
        <p:spPr>
          <a:xfrm>
            <a:off x="6126480" y="1280160"/>
            <a:ext cx="2560320" cy="315468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C29655-7D33-3E8B-8DCF-4E9C3CBE353C}"/>
              </a:ext>
            </a:extLst>
          </p:cNvPr>
          <p:cNvSpPr txBox="1"/>
          <p:nvPr/>
        </p:nvSpPr>
        <p:spPr>
          <a:xfrm>
            <a:off x="6263640" y="1371600"/>
            <a:ext cx="228600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100" b="1">
                <a:solidFill>
                  <a:srgbClr val="C8452D"/>
                </a:solidFill>
                <a:latin typeface="Calibri" panose="020F0502020204030204" pitchFamily="34" charset="0"/>
              </a:rPr>
              <a:t>ALSO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1B945C-B548-DA47-61D4-69331B2DFEC6}"/>
              </a:ext>
            </a:extLst>
          </p:cNvPr>
          <p:cNvSpPr txBox="1"/>
          <p:nvPr/>
        </p:nvSpPr>
        <p:spPr>
          <a:xfrm>
            <a:off x="6263640" y="1645920"/>
            <a:ext cx="2286000" cy="6400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14213D"/>
                </a:solidFill>
                <a:latin typeface="Cambria" panose="02040503050406030204" pitchFamily="18" charset="0"/>
              </a:rPr>
              <a:t>Responders who absorbed the work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1DBF32-D464-4C96-5324-E6FAC046CD71}"/>
              </a:ext>
            </a:extLst>
          </p:cNvPr>
          <p:cNvSpPr txBox="1"/>
          <p:nvPr/>
        </p:nvSpPr>
        <p:spPr>
          <a:xfrm>
            <a:off x="6263640" y="2377440"/>
            <a:ext cx="2286000" cy="20116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The other twelve got about 20% more pings. The Gale is "exhausted". Spreading load back helps them without anyone asking.</a:t>
            </a:r>
          </a:p>
        </p:txBody>
      </p:sp>
    </p:spTree>
    <p:extLst>
      <p:ext uri="{BB962C8B-B14F-4D97-AF65-F5344CB8AC3E}">
        <p14:creationId xmlns:p14="http://schemas.microsoft.com/office/powerpoint/2010/main" val="3298211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1A2A4D-FAB6-423F-E346-EF6B7FB7857D}"/>
              </a:ext>
            </a:extLst>
          </p:cNvPr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Rook Dispatch  ·  Quiet responders brief  ·  Draft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53676D-774E-231F-80AC-1BA21506C58F}"/>
              </a:ext>
            </a:extLst>
          </p:cNvPr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E55D7A-9420-C435-6AF8-D6E6E91BF782}"/>
              </a:ext>
            </a:extLst>
          </p:cNvPr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400" b="1">
                <a:solidFill>
                  <a:srgbClr val="14213D"/>
                </a:solidFill>
                <a:latin typeface="Cambria" panose="02040503050406030204" pitchFamily="18" charset="0"/>
              </a:rPr>
              <a:t>What changes for them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4A68E-EB81-3F28-E643-AF435653F069}"/>
              </a:ext>
            </a:extLst>
          </p:cNvPr>
          <p:cNvSpPr/>
          <p:nvPr/>
        </p:nvSpPr>
        <p:spPr>
          <a:xfrm>
            <a:off x="457200" y="1280160"/>
            <a:ext cx="3977640" cy="320040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B9198D-FAF9-0B33-0DCF-A702248F61F3}"/>
              </a:ext>
            </a:extLst>
          </p:cNvPr>
          <p:cNvSpPr txBox="1"/>
          <p:nvPr/>
        </p:nvSpPr>
        <p:spPr>
          <a:xfrm>
            <a:off x="640080" y="1371600"/>
            <a:ext cx="3611880" cy="4114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1F7A6F"/>
                </a:solidFill>
                <a:latin typeface="Cambria" panose="02040503050406030204" pitchFamily="18" charset="0"/>
              </a:rPr>
              <a:t>A quiet responder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CC2913-BD88-A6E2-47CA-F50CF2EC43D7}"/>
              </a:ext>
            </a:extLst>
          </p:cNvPr>
          <p:cNvSpPr txBox="1"/>
          <p:nvPr/>
        </p:nvSpPr>
        <p:spPr>
          <a:xfrm>
            <a:off x="640080" y="1874520"/>
            <a:ext cx="3611880" cy="2514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Pinged again after a set period, without having to take a ping first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A run of misses no longer parks them at the bottom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A miss on the way back doesn't push them deeper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No available, qualified responder goes more than N days without a ping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A4EEF3-E77D-2A5F-104B-68A53AB501CC}"/>
              </a:ext>
            </a:extLst>
          </p:cNvPr>
          <p:cNvSpPr/>
          <p:nvPr/>
        </p:nvSpPr>
        <p:spPr>
          <a:xfrm>
            <a:off x="4709160" y="1280160"/>
            <a:ext cx="3977640" cy="320040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A9BEFA-58AA-6F98-B27C-4F4F28B8A2EB}"/>
              </a:ext>
            </a:extLst>
          </p:cNvPr>
          <p:cNvSpPr txBox="1"/>
          <p:nvPr/>
        </p:nvSpPr>
        <p:spPr>
          <a:xfrm>
            <a:off x="4892040" y="1371600"/>
            <a:ext cx="3611880" cy="41148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000" b="1">
                <a:solidFill>
                  <a:srgbClr val="1F7A6F"/>
                </a:solidFill>
                <a:latin typeface="Cambria" panose="02040503050406030204" pitchFamily="18" charset="0"/>
              </a:rPr>
              <a:t>A handler like Kip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90EE3E-28AA-8C33-503C-A00E0FE5B955}"/>
              </a:ext>
            </a:extLst>
          </p:cNvPr>
          <p:cNvSpPr txBox="1"/>
          <p:nvPr/>
        </p:nvSpPr>
        <p:spPr>
          <a:xfrm>
            <a:off x="4892040" y="1874520"/>
            <a:ext cx="3611880" cy="2514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Each card says in plain words how the responder is doing, e.g. "Pinged 12 times this week" (wording untested)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Kip can tell Meteor Mite something true, not "hang in there"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If a returner keeps missing, the handler and Support are told</a:t>
            </a:r>
          </a:p>
          <a:p>
            <a:pPr marL="177800" indent="-177800">
              <a:spcAft>
                <a:spcPts val="600"/>
              </a:spcAft>
              <a:buFont typeface="+mj-lt"/>
              <a:buChar char="•"/>
            </a:pP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Nothing to configure, no new step in the callout flow</a:t>
            </a:r>
          </a:p>
        </p:txBody>
      </p:sp>
    </p:spTree>
    <p:extLst>
      <p:ext uri="{BB962C8B-B14F-4D97-AF65-F5344CB8AC3E}">
        <p14:creationId xmlns:p14="http://schemas.microsoft.com/office/powerpoint/2010/main" val="504548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DD1CD5-EB34-3041-50F4-E66E4E9607A5}"/>
              </a:ext>
            </a:extLst>
          </p:cNvPr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Rook Dispatch  ·  Quiet responders brief  ·  Draft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58B1AF-93A8-DD93-2FE1-1570C9D20B43}"/>
              </a:ext>
            </a:extLst>
          </p:cNvPr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D85019-56EE-4D63-1718-345FF67A203A}"/>
              </a:ext>
            </a:extLst>
          </p:cNvPr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400" b="1">
                <a:solidFill>
                  <a:srgbClr val="14213D"/>
                </a:solidFill>
                <a:latin typeface="Cambria" panose="02040503050406030204" pitchFamily="18" charset="0"/>
              </a:rPr>
              <a:t>What it deliberately doesn't do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5228EC-B560-5317-D30E-49CC307C3917}"/>
              </a:ext>
            </a:extLst>
          </p:cNvPr>
          <p:cNvSpPr/>
          <p:nvPr/>
        </p:nvSpPr>
        <p:spPr>
          <a:xfrm>
            <a:off x="457200" y="1234440"/>
            <a:ext cx="3977640" cy="658368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32F167-E99A-255A-877D-3ED0A4AE52E3}"/>
              </a:ext>
            </a:extLst>
          </p:cNvPr>
          <p:cNvSpPr txBox="1"/>
          <p:nvPr/>
        </p:nvSpPr>
        <p:spPr>
          <a:xfrm>
            <a:off x="594360" y="1234440"/>
            <a:ext cx="3703320" cy="65836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>
                <a:solidFill>
                  <a:srgbClr val="14213D"/>
                </a:solidFill>
                <a:latin typeface="Calibri" panose="020F0502020204030204" pitchFamily="34" charset="0"/>
              </a:rPr>
              <a:t>Not a setting.</a:t>
            </a: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 No handler-adjustable weight or timer.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BEA3D1-3489-8481-7BDB-8AC7728897F9}"/>
              </a:ext>
            </a:extLst>
          </p:cNvPr>
          <p:cNvSpPr/>
          <p:nvPr/>
        </p:nvSpPr>
        <p:spPr>
          <a:xfrm>
            <a:off x="4709160" y="1234440"/>
            <a:ext cx="3977640" cy="658368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6D632B-7FD4-4AEC-A764-3E7206A5BBFB}"/>
              </a:ext>
            </a:extLst>
          </p:cNvPr>
          <p:cNvSpPr txBox="1"/>
          <p:nvPr/>
        </p:nvSpPr>
        <p:spPr>
          <a:xfrm>
            <a:off x="4846320" y="1234440"/>
            <a:ext cx="3703320" cy="65836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>
                <a:solidFill>
                  <a:srgbClr val="14213D"/>
                </a:solidFill>
                <a:latin typeface="Calibri" panose="020F0502020204030204" pitchFamily="34" charset="0"/>
              </a:rPr>
              <a:t>Not a revert of 4.2.</a:t>
            </a: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 Proximity weighting and the 60 s wait stay.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216A96-0149-4691-0FCE-966F7A454DD1}"/>
              </a:ext>
            </a:extLst>
          </p:cNvPr>
          <p:cNvSpPr/>
          <p:nvPr/>
        </p:nvSpPr>
        <p:spPr>
          <a:xfrm>
            <a:off x="457200" y="2002536"/>
            <a:ext cx="3977640" cy="658368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97EB9E-D5C2-E066-D8CD-DE39A94DAB84}"/>
              </a:ext>
            </a:extLst>
          </p:cNvPr>
          <p:cNvSpPr txBox="1"/>
          <p:nvPr/>
        </p:nvSpPr>
        <p:spPr>
          <a:xfrm>
            <a:off x="594360" y="2002536"/>
            <a:ext cx="3703320" cy="65836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>
                <a:solidFill>
                  <a:srgbClr val="14213D"/>
                </a:solidFill>
                <a:latin typeface="Calibri" panose="020F0502020204030204" pitchFamily="34" charset="0"/>
              </a:rPr>
              <a:t>Not the "gone too fast" fix.</a:t>
            </a: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 That's the shorter wait, a separate problem.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5353D5-5C63-35D8-F731-AD998E3EEB15}"/>
              </a:ext>
            </a:extLst>
          </p:cNvPr>
          <p:cNvSpPr/>
          <p:nvPr/>
        </p:nvSpPr>
        <p:spPr>
          <a:xfrm>
            <a:off x="4709160" y="2002536"/>
            <a:ext cx="3977640" cy="658368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0B9A7F-D72D-A145-859C-5A0720271914}"/>
              </a:ext>
            </a:extLst>
          </p:cNvPr>
          <p:cNvSpPr txBox="1"/>
          <p:nvPr/>
        </p:nvSpPr>
        <p:spPr>
          <a:xfrm>
            <a:off x="4846320" y="2002536"/>
            <a:ext cx="3703320" cy="65836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>
                <a:solidFill>
                  <a:srgbClr val="14213D"/>
                </a:solidFill>
                <a:latin typeface="Calibri" panose="020F0502020204030204" pitchFamily="34" charset="0"/>
              </a:rPr>
              <a:t>Turn-downs aren't cheaper.</a:t>
            </a: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 Declining a job costs what it does today.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844348-A4B8-5F85-A1C2-2F2E7722AB2B}"/>
              </a:ext>
            </a:extLst>
          </p:cNvPr>
          <p:cNvSpPr/>
          <p:nvPr/>
        </p:nvSpPr>
        <p:spPr>
          <a:xfrm>
            <a:off x="457200" y="2770632"/>
            <a:ext cx="3977640" cy="658368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B43BDC-18FA-7341-EACA-C2036F92E7F3}"/>
              </a:ext>
            </a:extLst>
          </p:cNvPr>
          <p:cNvSpPr txBox="1"/>
          <p:nvPr/>
        </p:nvSpPr>
        <p:spPr>
          <a:xfrm>
            <a:off x="594360" y="2770632"/>
            <a:ext cx="3703320" cy="65836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>
                <a:solidFill>
                  <a:srgbClr val="14213D"/>
                </a:solidFill>
                <a:latin typeface="Calibri" panose="020F0502020204030204" pitchFamily="34" charset="0"/>
              </a:rPr>
              <a:t>No guaranteed share.</a:t>
            </a: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 No quotas; repeat missers can still rank low.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551C1E-BA07-F17A-F4D1-462202AF60A2}"/>
              </a:ext>
            </a:extLst>
          </p:cNvPr>
          <p:cNvSpPr/>
          <p:nvPr/>
        </p:nvSpPr>
        <p:spPr>
          <a:xfrm>
            <a:off x="4709160" y="2770632"/>
            <a:ext cx="3977640" cy="658368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45A379-BEE4-DFA0-6AF4-3C9736E1733A}"/>
              </a:ext>
            </a:extLst>
          </p:cNvPr>
          <p:cNvSpPr txBox="1"/>
          <p:nvPr/>
        </p:nvSpPr>
        <p:spPr>
          <a:xfrm>
            <a:off x="4846320" y="2770632"/>
            <a:ext cx="3703320" cy="65836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>
                <a:solidFill>
                  <a:srgbClr val="14213D"/>
                </a:solidFill>
                <a:latin typeface="Calibri" panose="020F0502020204030204" pitchFamily="34" charset="0"/>
              </a:rPr>
              <a:t>No scores shown to others.</a:t>
            </a: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 Handlers see their own responders only.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610DBD-2C28-EBE9-07F8-685FE491A258}"/>
              </a:ext>
            </a:extLst>
          </p:cNvPr>
          <p:cNvSpPr/>
          <p:nvPr/>
        </p:nvSpPr>
        <p:spPr>
          <a:xfrm>
            <a:off x="457200" y="3538728"/>
            <a:ext cx="3977640" cy="658368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09528A-1089-1A5A-4FBC-80C72C706B04}"/>
              </a:ext>
            </a:extLst>
          </p:cNvPr>
          <p:cNvSpPr txBox="1"/>
          <p:nvPr/>
        </p:nvSpPr>
        <p:spPr>
          <a:xfrm>
            <a:off x="594360" y="3538728"/>
            <a:ext cx="3703320" cy="65836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>
                <a:solidFill>
                  <a:srgbClr val="14213D"/>
                </a:solidFill>
                <a:latin typeface="Calibri" panose="020F0502020204030204" pitchFamily="34" charset="0"/>
              </a:rPr>
              <a:t>No legal identity.</a:t>
            </a: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 Cover identity and callout history only.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08BBB0-9506-FF07-9D0A-82554F76522F}"/>
              </a:ext>
            </a:extLst>
          </p:cNvPr>
          <p:cNvSpPr/>
          <p:nvPr/>
        </p:nvSpPr>
        <p:spPr>
          <a:xfrm>
            <a:off x="4709160" y="3538728"/>
            <a:ext cx="3977640" cy="658368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534F05-6C0C-33EF-813D-3EFEA2238B7E}"/>
              </a:ext>
            </a:extLst>
          </p:cNvPr>
          <p:cNvSpPr txBox="1"/>
          <p:nvPr/>
        </p:nvSpPr>
        <p:spPr>
          <a:xfrm>
            <a:off x="4846320" y="3538728"/>
            <a:ext cx="3703320" cy="658368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1400" b="1">
                <a:solidFill>
                  <a:srgbClr val="14213D"/>
                </a:solidFill>
                <a:latin typeface="Calibri" panose="020F0502020204030204" pitchFamily="34" charset="0"/>
              </a:rPr>
              <a:t>No Supply changes.</a:t>
            </a:r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 Availability Record unchanged; Supply hears first.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25B2E6-8C7E-033C-9D5E-A5C9D53F5773}"/>
              </a:ext>
            </a:extLst>
          </p:cNvPr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4A5670"/>
                </a:solidFill>
                <a:latin typeface="Calibri" panose="020F0502020204030204" pitchFamily="34" charset="0"/>
              </a:rPr>
              <a:t>Also separate: handler phone app, dark mode, per-responder alert sounds.</a:t>
            </a:r>
          </a:p>
        </p:txBody>
      </p:sp>
    </p:spTree>
    <p:extLst>
      <p:ext uri="{BB962C8B-B14F-4D97-AF65-F5344CB8AC3E}">
        <p14:creationId xmlns:p14="http://schemas.microsoft.com/office/powerpoint/2010/main" val="1567207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A414B4-D4DA-4F21-EFD5-D761E5440404}"/>
              </a:ext>
            </a:extLst>
          </p:cNvPr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Rook Dispatch  ·  Quiet responders brief  ·  Draft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FA0284-D675-3080-E562-DA06F826F0A5}"/>
              </a:ext>
            </a:extLst>
          </p:cNvPr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541760-0EF5-BB1C-128B-406CD6750E69}"/>
              </a:ext>
            </a:extLst>
          </p:cNvPr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400" b="1">
                <a:solidFill>
                  <a:srgbClr val="14213D"/>
                </a:solidFill>
                <a:latin typeface="Cambria" panose="02040503050406030204" pitchFamily="18" charset="0"/>
              </a:rPr>
              <a:t>How we'll know it worked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2C4B05D-ECAD-BF5C-A0B9-A337FB3E05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924907"/>
              </p:ext>
            </p:extLst>
          </p:nvPr>
        </p:nvGraphicFramePr>
        <p:xfrm>
          <a:off x="457200" y="1234440"/>
          <a:ext cx="8229600" cy="314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1816403227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10811988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Measure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Goal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38207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Rotation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The four back near pre-4.2 pings a week (Vesper about 14)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1511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Vesper test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Back to target within 2 weeks in the replay. Pass/fail.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0448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Tickets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From 20–32 a week toward the pre-4.2 5–8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30182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Untaken callouts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From 11.1% back toward 5.5%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0207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No one pays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No responder loses more than an agreed share of pings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51068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Early warning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Weekly list of anyone unpinged for 7 days (Ravi)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48886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Guardrail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14213D"/>
                          </a:solidFill>
                          <a:latin typeface="Calibri" panose="020F0502020204030204" pitchFamily="34" charset="0"/>
                        </a:rPr>
                        <a:t>Acceptance and time-to-accept no worse; reported per responder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58428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46AA5ED-7F3B-4F8A-9C4F-A0E4427B8586}"/>
              </a:ext>
            </a:extLst>
          </p:cNvPr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4A5670"/>
                </a:solidFill>
                <a:latin typeface="Calibri" panose="020F0502020204030204" pitchFamily="34" charset="0"/>
              </a:rPr>
              <a:t>Targets are proposals, to agree with Marcus and Ravi.</a:t>
            </a:r>
          </a:p>
        </p:txBody>
      </p:sp>
    </p:spTree>
    <p:extLst>
      <p:ext uri="{BB962C8B-B14F-4D97-AF65-F5344CB8AC3E}">
        <p14:creationId xmlns:p14="http://schemas.microsoft.com/office/powerpoint/2010/main" val="4230336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305615-6547-2174-AB1C-4BF47B5BB3CA}"/>
              </a:ext>
            </a:extLst>
          </p:cNvPr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Rook Dispatch  ·  Quiet responders brief  ·  Draft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A6ADB-AEAF-4FF5-94B7-4A463E2092ED}"/>
              </a:ext>
            </a:extLst>
          </p:cNvPr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6E2924-9036-7CD8-80BB-ECA305837305}"/>
              </a:ext>
            </a:extLst>
          </p:cNvPr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400" b="1">
                <a:solidFill>
                  <a:srgbClr val="14213D"/>
                </a:solidFill>
                <a:latin typeface="Cambria" panose="02040503050406030204" pitchFamily="18" charset="0"/>
              </a:rPr>
              <a:t>Before this is buildable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A53117-049E-3A37-81D2-AF4ADAE7772A}"/>
              </a:ext>
            </a:extLst>
          </p:cNvPr>
          <p:cNvSpPr/>
          <p:nvPr/>
        </p:nvSpPr>
        <p:spPr>
          <a:xfrm>
            <a:off x="457200" y="1280160"/>
            <a:ext cx="3977640" cy="150876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120EA1-D1BB-FAB6-0D62-723789DF08B7}"/>
              </a:ext>
            </a:extLst>
          </p:cNvPr>
          <p:cNvSpPr txBox="1"/>
          <p:nvPr/>
        </p:nvSpPr>
        <p:spPr>
          <a:xfrm>
            <a:off x="640080" y="1371600"/>
            <a:ext cx="3611880" cy="3657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1F7A6F"/>
                </a:solidFill>
                <a:latin typeface="Cambria" panose="02040503050406030204" pitchFamily="18" charset="0"/>
              </a:rPr>
              <a:t>Refresh the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AAFBB2-3DC7-A7CF-75D7-BD3FD2CCDD3B}"/>
              </a:ext>
            </a:extLst>
          </p:cNvPr>
          <p:cNvSpPr txBox="1"/>
          <p:nvPr/>
        </p:nvSpPr>
        <p:spPr>
          <a:xfrm>
            <a:off x="640080" y="1783080"/>
            <a:ext cx="361188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Ends 6–7 Sep; today is 16 Oct. Did the four recover or get worse? (Ravi)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00D822-8888-7E6E-CA5D-04A5608D8463}"/>
              </a:ext>
            </a:extLst>
          </p:cNvPr>
          <p:cNvSpPr/>
          <p:nvPr/>
        </p:nvSpPr>
        <p:spPr>
          <a:xfrm>
            <a:off x="4709160" y="1280160"/>
            <a:ext cx="3977640" cy="150876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1873FF-4D10-D395-0C57-C641286573E3}"/>
              </a:ext>
            </a:extLst>
          </p:cNvPr>
          <p:cNvSpPr txBox="1"/>
          <p:nvPr/>
        </p:nvSpPr>
        <p:spPr>
          <a:xfrm>
            <a:off x="4892040" y="1371600"/>
            <a:ext cx="3611880" cy="3657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1F7A6F"/>
                </a:solidFill>
                <a:latin typeface="Cambria" panose="02040503050406030204" pitchFamily="18" charset="0"/>
              </a:rPr>
              <a:t>Confirm production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B8601-1FAA-F7E5-295A-4B3016C2AD79}"/>
              </a:ext>
            </a:extLst>
          </p:cNvPr>
          <p:cNvSpPr txBox="1"/>
          <p:nvPr/>
        </p:nvSpPr>
        <p:spPr>
          <a:xfrm>
            <a:off x="4892040" y="1783080"/>
            <a:ext cx="361188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Our code is a simplified copy. We need the real scores, weights and penalty. (Wen Li, Marcus)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00E931-ED31-54B1-133F-4E9ECA8B8E3A}"/>
              </a:ext>
            </a:extLst>
          </p:cNvPr>
          <p:cNvSpPr/>
          <p:nvPr/>
        </p:nvSpPr>
        <p:spPr>
          <a:xfrm>
            <a:off x="457200" y="2926080"/>
            <a:ext cx="3977640" cy="150876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A86E3C-B716-EFEB-F992-CE38EE35A13F}"/>
              </a:ext>
            </a:extLst>
          </p:cNvPr>
          <p:cNvSpPr txBox="1"/>
          <p:nvPr/>
        </p:nvSpPr>
        <p:spPr>
          <a:xfrm>
            <a:off x="640080" y="3017520"/>
            <a:ext cx="3611880" cy="3657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1F7A6F"/>
                </a:solidFill>
                <a:latin typeface="Cambria" panose="02040503050406030204" pitchFamily="18" charset="0"/>
              </a:rPr>
              <a:t>Get response times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D2E578-2AB8-DC95-DC6A-E54C25F4B412}"/>
              </a:ext>
            </a:extLst>
          </p:cNvPr>
          <p:cNvSpPr txBox="1"/>
          <p:nvPr/>
        </p:nvSpPr>
        <p:spPr>
          <a:xfrm>
            <a:off x="640080" y="3429000"/>
            <a:ext cx="361188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None exist today, so timer and score can't be told apart. (Ravi)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C6D488-BF91-D3BF-FB45-8CBE54EF9411}"/>
              </a:ext>
            </a:extLst>
          </p:cNvPr>
          <p:cNvSpPr/>
          <p:nvPr/>
        </p:nvSpPr>
        <p:spPr>
          <a:xfrm>
            <a:off x="4709160" y="2926080"/>
            <a:ext cx="3977640" cy="1508760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D17FF0-DB43-CC30-7E64-14F0F3F87F97}"/>
              </a:ext>
            </a:extLst>
          </p:cNvPr>
          <p:cNvSpPr txBox="1"/>
          <p:nvPr/>
        </p:nvSpPr>
        <p:spPr>
          <a:xfrm>
            <a:off x="4892040" y="3017520"/>
            <a:ext cx="3611880" cy="3657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1F7A6F"/>
                </a:solidFill>
                <a:latin typeface="Cambria" panose="02040503050406030204" pitchFamily="18" charset="0"/>
              </a:rPr>
              <a:t>Diagnose Vesper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84FE39-31AB-954F-F89D-CF0D7BF5249D}"/>
              </a:ext>
            </a:extLst>
          </p:cNvPr>
          <p:cNvSpPr txBox="1"/>
          <p:nvPr/>
        </p:nvSpPr>
        <p:spPr>
          <a:xfrm>
            <a:off x="4892040" y="3429000"/>
            <a:ext cx="361188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Score doesn't explain Vesper (still about 0.8 on 17 Aug). Check availability, travel time, response time.</a:t>
            </a:r>
          </a:p>
        </p:txBody>
      </p:sp>
    </p:spTree>
    <p:extLst>
      <p:ext uri="{BB962C8B-B14F-4D97-AF65-F5344CB8AC3E}">
        <p14:creationId xmlns:p14="http://schemas.microsoft.com/office/powerpoint/2010/main" val="3925670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C080E9-B1A3-CC19-4E0E-9647C8D82331}"/>
              </a:ext>
            </a:extLst>
          </p:cNvPr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Rook Dispatch  ·  Quiet responders brief  ·  Draft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E5E6AB-F2CA-6670-9F09-CAB71B42911B}"/>
              </a:ext>
            </a:extLst>
          </p:cNvPr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sz="1000">
                <a:solidFill>
                  <a:srgbClr val="8A94A8"/>
                </a:solidFill>
                <a:latin typeface="Calibri" panose="020F0502020204030204" pitchFamily="34" charset="0"/>
              </a:rPr>
              <a:t>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A3E8D5-0123-741B-D65C-FE3D3FC29F65}"/>
              </a:ext>
            </a:extLst>
          </p:cNvPr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400" b="1">
                <a:solidFill>
                  <a:srgbClr val="14213D"/>
                </a:solidFill>
                <a:latin typeface="Cambria" panose="02040503050406030204" pitchFamily="18" charset="0"/>
              </a:rPr>
              <a:t>Decisions still open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62920D-1A97-BA21-27B1-DFCFBE92705F}"/>
              </a:ext>
            </a:extLst>
          </p:cNvPr>
          <p:cNvSpPr/>
          <p:nvPr/>
        </p:nvSpPr>
        <p:spPr>
          <a:xfrm>
            <a:off x="457200" y="1234440"/>
            <a:ext cx="3977640" cy="1261872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572900-8FBD-679F-F0D5-B6A8EF4C7316}"/>
              </a:ext>
            </a:extLst>
          </p:cNvPr>
          <p:cNvSpPr txBox="1"/>
          <p:nvPr/>
        </p:nvSpPr>
        <p:spPr>
          <a:xfrm>
            <a:off x="640080" y="1307592"/>
            <a:ext cx="3611880" cy="3657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C8452D"/>
                </a:solidFill>
                <a:latin typeface="Cambria" panose="02040503050406030204" pitchFamily="18" charset="0"/>
              </a:rPr>
              <a:t>Ping wait for returners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66F83C-918D-4B33-4956-8BC1A6B4471E}"/>
              </a:ext>
            </a:extLst>
          </p:cNvPr>
          <p:cNvSpPr txBox="1"/>
          <p:nvPr/>
        </p:nvSpPr>
        <p:spPr>
          <a:xfrm>
            <a:off x="640080" y="1691640"/>
            <a:ext cx="3611880" cy="7772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Keep 60 s, give first pings 90 s, or move it back? It matters if Vesper's misses are about the wait. (Helen)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EFB291-5243-291D-9E99-B8E18B2B1BAD}"/>
              </a:ext>
            </a:extLst>
          </p:cNvPr>
          <p:cNvSpPr/>
          <p:nvPr/>
        </p:nvSpPr>
        <p:spPr>
          <a:xfrm>
            <a:off x="4709160" y="1234440"/>
            <a:ext cx="3977640" cy="1261872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818376-BC1B-2D95-A0BF-3FB34E17EC47}"/>
              </a:ext>
            </a:extLst>
          </p:cNvPr>
          <p:cNvSpPr txBox="1"/>
          <p:nvPr/>
        </p:nvSpPr>
        <p:spPr>
          <a:xfrm>
            <a:off x="4892040" y="1307592"/>
            <a:ext cx="3611880" cy="3657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C8452D"/>
                </a:solidFill>
                <a:latin typeface="Cambria" panose="02040503050406030204" pitchFamily="18" charset="0"/>
              </a:rPr>
              <a:t>Turn-downs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94826C-6847-B64E-1708-C16BE68D993E}"/>
              </a:ext>
            </a:extLst>
          </p:cNvPr>
          <p:cNvSpPr txBox="1"/>
          <p:nvPr/>
        </p:nvSpPr>
        <p:spPr>
          <a:xfrm>
            <a:off x="4892040" y="1691640"/>
            <a:ext cx="3611880" cy="7772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Fade misses only (our default) or turn-downs too? (Wen Li, Helen)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FD970C-58BD-D317-E8F0-CBF471167B89}"/>
              </a:ext>
            </a:extLst>
          </p:cNvPr>
          <p:cNvSpPr/>
          <p:nvPr/>
        </p:nvSpPr>
        <p:spPr>
          <a:xfrm>
            <a:off x="457200" y="2606040"/>
            <a:ext cx="3977640" cy="1261872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F09104-1753-F1DE-73FF-0D5674FAA37C}"/>
              </a:ext>
            </a:extLst>
          </p:cNvPr>
          <p:cNvSpPr txBox="1"/>
          <p:nvPr/>
        </p:nvSpPr>
        <p:spPr>
          <a:xfrm>
            <a:off x="640080" y="2679192"/>
            <a:ext cx="3611880" cy="3657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C8452D"/>
                </a:solidFill>
                <a:latin typeface="Cambria" panose="02040503050406030204" pitchFamily="18" charset="0"/>
              </a:rPr>
              <a:t>Show "ranked low"?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812A50-C025-02C1-C884-3B493F5EBB67}"/>
              </a:ext>
            </a:extLst>
          </p:cNvPr>
          <p:cNvSpPr txBox="1"/>
          <p:nvPr/>
        </p:nvSpPr>
        <p:spPr>
          <a:xfrm>
            <a:off x="640080" y="3063240"/>
            <a:ext cx="3611880" cy="7772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It reveals routing logic to handlers. (Helen)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089754-EC77-1EA6-0FF4-A3C8A0ADE725}"/>
              </a:ext>
            </a:extLst>
          </p:cNvPr>
          <p:cNvSpPr/>
          <p:nvPr/>
        </p:nvSpPr>
        <p:spPr>
          <a:xfrm>
            <a:off x="4709160" y="2606040"/>
            <a:ext cx="3977640" cy="1261872"/>
          </a:xfrm>
          <a:prstGeom prst="rect">
            <a:avLst/>
          </a:prstGeom>
          <a:solidFill>
            <a:srgbClr val="EEF1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5986E7-9BAD-E5C1-B453-B30F09CE897C}"/>
              </a:ext>
            </a:extLst>
          </p:cNvPr>
          <p:cNvSpPr txBox="1"/>
          <p:nvPr/>
        </p:nvSpPr>
        <p:spPr>
          <a:xfrm>
            <a:off x="4892040" y="2679192"/>
            <a:ext cx="3611880" cy="3657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b="1">
                <a:solidFill>
                  <a:srgbClr val="C8452D"/>
                </a:solidFill>
                <a:latin typeface="Cambria" panose="02040503050406030204" pitchFamily="18" charset="0"/>
              </a:rPr>
              <a:t>Return period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39B7F0-81EA-DA20-BCD9-C602743547A0}"/>
              </a:ext>
            </a:extLst>
          </p:cNvPr>
          <p:cNvSpPr txBox="1"/>
          <p:nvPr/>
        </p:nvSpPr>
        <p:spPr>
          <a:xfrm>
            <a:off x="4892040" y="3063240"/>
            <a:ext cx="3611880" cy="7772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00">
                <a:solidFill>
                  <a:srgbClr val="14213D"/>
                </a:solidFill>
                <a:latin typeface="Calibri" panose="020F0502020204030204" pitchFamily="34" charset="0"/>
              </a:rPr>
              <a:t>How long before a quiet responder returns, and whether returners get a trial run. (Engineering)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C98814-A13C-6562-5917-4CBDC44BE835}"/>
              </a:ext>
            </a:extLst>
          </p:cNvPr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00">
                <a:solidFill>
                  <a:srgbClr val="4A5670"/>
                </a:solidFill>
                <a:latin typeface="Calibri" panose="020F0502020204030204" pitchFamily="34" charset="0"/>
              </a:rPr>
              <a:t>Also needed: a replay test with pass/fail written first, a rollout and rollback plan, handler and responder comms, card wording tested by Sofia.</a:t>
            </a:r>
          </a:p>
        </p:txBody>
      </p:sp>
    </p:spTree>
    <p:extLst>
      <p:ext uri="{BB962C8B-B14F-4D97-AF65-F5344CB8AC3E}">
        <p14:creationId xmlns:p14="http://schemas.microsoft.com/office/powerpoint/2010/main" val="3892043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F34157-51AB-F4C4-C93D-C7FE4D0A0118}"/>
              </a:ext>
            </a:extLst>
          </p:cNvPr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Cambria" panose="02040503050406030204" pitchFamily="18" charset="0"/>
              </a:rPr>
              <a:t>Next step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B799046-798A-B833-7B1A-616F2D77E08B}"/>
              </a:ext>
            </a:extLst>
          </p:cNvPr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rgbClr val="FCA3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14213D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EAA0EA-9439-C0D4-ACD1-C37E5464A493}"/>
              </a:ext>
            </a:extLst>
          </p:cNvPr>
          <p:cNvSpPr txBox="1"/>
          <p:nvPr/>
        </p:nvSpPr>
        <p:spPr>
          <a:xfrm>
            <a:off x="1371600" y="1463040"/>
            <a:ext cx="7132320" cy="6400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>
                <a:solidFill>
                  <a:srgbClr val="FFFFFF"/>
                </a:solidFill>
                <a:latin typeface="Calibri" panose="020F0502020204030204" pitchFamily="34" charset="0"/>
              </a:rPr>
              <a:t>Helen confirms this is the shape she wants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BED4838-9AAA-7CCA-8082-CEEE11FC17BD}"/>
              </a:ext>
            </a:extLst>
          </p:cNvPr>
          <p:cNvSpPr/>
          <p:nvPr/>
        </p:nvSpPr>
        <p:spPr>
          <a:xfrm>
            <a:off x="457200" y="2514600"/>
            <a:ext cx="640080" cy="640080"/>
          </a:xfrm>
          <a:prstGeom prst="ellipse">
            <a:avLst/>
          </a:prstGeom>
          <a:solidFill>
            <a:srgbClr val="FCA3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14213D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CF3D6B-AE30-0F56-8B51-F9FB9FE41600}"/>
              </a:ext>
            </a:extLst>
          </p:cNvPr>
          <p:cNvSpPr txBox="1"/>
          <p:nvPr/>
        </p:nvSpPr>
        <p:spPr>
          <a:xfrm>
            <a:off x="1371600" y="2514600"/>
            <a:ext cx="7132320" cy="6400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>
                <a:solidFill>
                  <a:srgbClr val="FFFFFF"/>
                </a:solidFill>
                <a:latin typeface="Calibri" panose="020F0502020204030204" pitchFamily="34" charset="0"/>
              </a:rPr>
              <a:t>Work the checklist, starting with the data refresh and a conversation with Wen Li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5EBA5D-A9AE-B432-9CC2-7F8C312FC6BB}"/>
              </a:ext>
            </a:extLst>
          </p:cNvPr>
          <p:cNvSpPr/>
          <p:nvPr/>
        </p:nvSpPr>
        <p:spPr>
          <a:xfrm>
            <a:off x="457200" y="3566160"/>
            <a:ext cx="640080" cy="640080"/>
          </a:xfrm>
          <a:prstGeom prst="ellipse">
            <a:avLst/>
          </a:prstGeom>
          <a:solidFill>
            <a:srgbClr val="FCA3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14213D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BDAF6B-1981-F48E-9880-BCB5F8E4C570}"/>
              </a:ext>
            </a:extLst>
          </p:cNvPr>
          <p:cNvSpPr txBox="1"/>
          <p:nvPr/>
        </p:nvSpPr>
        <p:spPr>
          <a:xfrm>
            <a:off x="1371600" y="3566160"/>
            <a:ext cx="7132320" cy="64008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000">
                <a:solidFill>
                  <a:srgbClr val="FFFFFF"/>
                </a:solidFill>
                <a:latin typeface="Calibri" panose="020F0502020204030204" pitchFamily="34" charset="0"/>
              </a:rPr>
              <a:t>Build a clickable mock of the handler card and the responder's phone view</a:t>
            </a:r>
          </a:p>
        </p:txBody>
      </p:sp>
    </p:spTree>
    <p:extLst>
      <p:ext uri="{BB962C8B-B14F-4D97-AF65-F5344CB8AC3E}">
        <p14:creationId xmlns:p14="http://schemas.microsoft.com/office/powerpoint/2010/main" val="833196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903</Words>
  <Application>Microsoft Office PowerPoint</Application>
  <PresentationFormat>Custom</PresentationFormat>
  <Paragraphs>100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Wilkins, Sandra</dc:creator>
  <cp:lastModifiedBy>Wilkins, Sandra</cp:lastModifiedBy>
  <cp:revision>1</cp:revision>
  <dcterms:created xsi:type="dcterms:W3CDTF">2026-10-16T12:54:02Z</dcterms:created>
  <dcterms:modified xsi:type="dcterms:W3CDTF">2026-10-16T12:54:02Z</dcterms:modified>
</cp:coreProperties>
</file>